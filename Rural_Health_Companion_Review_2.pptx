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Project source: Rural_Health_Companion_Project_Requirements.docx. The college cover layout is preserved. Confirm the presentation date and the existing team/advisor details before presenting.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The eight agenda labels map the presentation to project context, design, methodology, technical quality, implementation status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Explain that the design responds to the access and service-fragmentation problems described in the requirements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Do not describe the process as Scrum, Agile, or waterfall: the source document does not specify a formal SDLC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summary from the Rural Health Companion requirements document. The web portal uses the API Gateway; Eureka supports service discovery. Business services communicate through REST/OpenFeign and own separate MySQL schemas. Nearby pharmacy discovery uses a configurable places provider. Kafka is planned; production event producers and consumers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Project source: Rural_Health_Companion_Project_Requirements.docx. The technology versions, services, and integration status are taken from the requirements document. Kafka production processing is planned rather than implemented.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Point out that the source reports these workflows as implemented. Continuous live ambulance tracking remains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The testing tools are specified in the source, but test execution results are not. Present evidence from the current repository during the meeting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Rural_Health_Companion_Project_Requirements.docx. Close by distinguishing completed capabilities from planned integrations. Ask the panel which technical evidence should be prioritized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7EACD4B-1D21-465D-8FE6-0D5D9F04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E89DCBF-F8E3-4FC1-8BF1-86A08704EC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3112EC8-3A7C-4607-8764-81304BA08A6E}"/>
              </a:ext>
            </a:extLst>
          </p:cNvPr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04018271-2382-4766-8D74-8A046D336F42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19B4C4-70A3-423A-B2E0-3683EAB9B22C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E5A7765E-348C-489B-8E00-9BDD2258F8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34954FAE-183B-4E74-BCC5-DE49E09B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0B7271C3-C6A5-4259-8EC1-A6D468A561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9" name="PlaceHolder 3">
            <a:extLst>
              <a:ext uri="{FF2B5EF4-FFF2-40B4-BE49-F238E27FC236}">
                <a16:creationId xmlns:a16="http://schemas.microsoft.com/office/drawing/2014/main" id="{1C84D9E9-20A0-4128-83B0-3898CF1A7C29}"/>
              </a:ext>
            </a:extLst>
          </p:cNvPr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4">
            <a:extLst>
              <a:ext uri="{FF2B5EF4-FFF2-40B4-BE49-F238E27FC236}">
                <a16:creationId xmlns:a16="http://schemas.microsoft.com/office/drawing/2014/main" id="{980B3A43-8A47-45CA-B106-F7AF2185DCCB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1" name="PlaceHolder 5">
            <a:extLst>
              <a:ext uri="{FF2B5EF4-FFF2-40B4-BE49-F238E27FC236}">
                <a16:creationId xmlns:a16="http://schemas.microsoft.com/office/drawing/2014/main" id="{75CEA6CF-CA37-442D-B205-DAFF19F8949F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5EBB8B-7386-40C6-910D-99F6637E3B54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>
            <a:extLst>
              <a:ext uri="{FF2B5EF4-FFF2-40B4-BE49-F238E27FC236}">
                <a16:creationId xmlns:a16="http://schemas.microsoft.com/office/drawing/2014/main" id="{B101F83A-55AE-4CA1-B0B7-B4D70AB6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13" name="PlaceHolder 2">
            <a:extLst>
              <a:ext uri="{FF2B5EF4-FFF2-40B4-BE49-F238E27FC236}">
                <a16:creationId xmlns:a16="http://schemas.microsoft.com/office/drawing/2014/main" id="{EA958684-3CF0-467F-AB7F-78240F3DEE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14" name="PlaceHolder 3">
            <a:extLst>
              <a:ext uri="{FF2B5EF4-FFF2-40B4-BE49-F238E27FC236}">
                <a16:creationId xmlns:a16="http://schemas.microsoft.com/office/drawing/2014/main" id="{23D38E08-0A74-462F-89BA-9A63AA5129C9}"/>
              </a:ext>
            </a:extLst>
          </p:cNvPr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4">
            <a:extLst>
              <a:ext uri="{FF2B5EF4-FFF2-40B4-BE49-F238E27FC236}">
                <a16:creationId xmlns:a16="http://schemas.microsoft.com/office/drawing/2014/main" id="{EB05CEA7-C2AC-400D-8AE6-3841E4225937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6" name="PlaceHolder 5">
            <a:extLst>
              <a:ext uri="{FF2B5EF4-FFF2-40B4-BE49-F238E27FC236}">
                <a16:creationId xmlns:a16="http://schemas.microsoft.com/office/drawing/2014/main" id="{FDCB463C-99D4-4B5B-9B45-90251E07F8B5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8198AE-63F3-4CDC-BF27-EFD8DF0DEB6A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>
            <a:extLst>
              <a:ext uri="{FF2B5EF4-FFF2-40B4-BE49-F238E27FC236}">
                <a16:creationId xmlns:a16="http://schemas.microsoft.com/office/drawing/2014/main" id="{5A8E2881-73DD-4776-814E-C1CA1481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18" name="PlaceHolder 2">
            <a:extLst>
              <a:ext uri="{FF2B5EF4-FFF2-40B4-BE49-F238E27FC236}">
                <a16:creationId xmlns:a16="http://schemas.microsoft.com/office/drawing/2014/main" id="{67813A3C-46C2-4D76-9EFA-9AA68B2CEF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19" name="PlaceHolder 3">
            <a:extLst>
              <a:ext uri="{FF2B5EF4-FFF2-40B4-BE49-F238E27FC236}">
                <a16:creationId xmlns:a16="http://schemas.microsoft.com/office/drawing/2014/main" id="{E1182BE2-F641-4890-918F-54C09EDE2E3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4">
            <a:extLst>
              <a:ext uri="{FF2B5EF4-FFF2-40B4-BE49-F238E27FC236}">
                <a16:creationId xmlns:a16="http://schemas.microsoft.com/office/drawing/2014/main" id="{C31E4F2C-04BD-4996-8986-E3FCBDA5F3F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1" name="PlaceHolder 5">
            <a:extLst>
              <a:ext uri="{FF2B5EF4-FFF2-40B4-BE49-F238E27FC236}">
                <a16:creationId xmlns:a16="http://schemas.microsoft.com/office/drawing/2014/main" id="{604C8787-32FC-47DD-A1C0-384B861F64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74AB56-53C3-4663-AEE5-48A481863AE1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>
            <a:extLst>
              <a:ext uri="{FF2B5EF4-FFF2-40B4-BE49-F238E27FC236}">
                <a16:creationId xmlns:a16="http://schemas.microsoft.com/office/drawing/2014/main" id="{8C769C6D-0E2F-4F7A-87A0-4E2B348F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23" name="PlaceHolder 2">
            <a:extLst>
              <a:ext uri="{FF2B5EF4-FFF2-40B4-BE49-F238E27FC236}">
                <a16:creationId xmlns:a16="http://schemas.microsoft.com/office/drawing/2014/main" id="{1B7414C1-6855-4A43-A424-AF0BE30CA5E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</p:txBody>
      </p:sp>
      <p:sp>
        <p:nvSpPr>
          <p:cNvPr id="24" name="PlaceHolder 3">
            <a:extLst>
              <a:ext uri="{FF2B5EF4-FFF2-40B4-BE49-F238E27FC236}">
                <a16:creationId xmlns:a16="http://schemas.microsoft.com/office/drawing/2014/main" id="{1E2C45EA-4A9B-4107-B444-D928CBACF773}"/>
              </a:ext>
            </a:extLst>
          </p:cNvPr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4">
            <a:extLst>
              <a:ext uri="{FF2B5EF4-FFF2-40B4-BE49-F238E27FC236}">
                <a16:creationId xmlns:a16="http://schemas.microsoft.com/office/drawing/2014/main" id="{856337FE-4875-444A-910F-E6E6F41628B8}"/>
              </a:ext>
            </a:extLst>
          </p:cNvPr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6" name="PlaceHolder 5">
            <a:extLst>
              <a:ext uri="{FF2B5EF4-FFF2-40B4-BE49-F238E27FC236}">
                <a16:creationId xmlns:a16="http://schemas.microsoft.com/office/drawing/2014/main" id="{5F9B21BC-1541-44CD-B709-E5B83BCB5D1B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52582C-B70E-4323-8999-89685F1623C3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5603C346-3DE8-4F2D-96E4-3B7BBCC9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28" name="PlaceHolder 2">
            <a:extLst>
              <a:ext uri="{FF2B5EF4-FFF2-40B4-BE49-F238E27FC236}">
                <a16:creationId xmlns:a16="http://schemas.microsoft.com/office/drawing/2014/main" id="{E7A11DA7-09B0-4A25-ABFB-0F405576E9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29" name="PlaceHolder 3">
            <a:extLst>
              <a:ext uri="{FF2B5EF4-FFF2-40B4-BE49-F238E27FC236}">
                <a16:creationId xmlns:a16="http://schemas.microsoft.com/office/drawing/2014/main" id="{A87095B5-E485-4E4A-B2B7-258BAAF7B7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30" name="PlaceHolder 4">
            <a:extLst>
              <a:ext uri="{FF2B5EF4-FFF2-40B4-BE49-F238E27FC236}">
                <a16:creationId xmlns:a16="http://schemas.microsoft.com/office/drawing/2014/main" id="{7501779B-2101-40C9-B1D6-1E7182CD8BB1}"/>
              </a:ext>
            </a:extLst>
          </p:cNvPr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5">
            <a:extLst>
              <a:ext uri="{FF2B5EF4-FFF2-40B4-BE49-F238E27FC236}">
                <a16:creationId xmlns:a16="http://schemas.microsoft.com/office/drawing/2014/main" id="{0B2B1F0C-21D2-4724-BFB2-5B1115DD5261}"/>
              </a:ext>
            </a:extLst>
          </p:cNvPr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2" name="PlaceHolder 6">
            <a:extLst>
              <a:ext uri="{FF2B5EF4-FFF2-40B4-BE49-F238E27FC236}">
                <a16:creationId xmlns:a16="http://schemas.microsoft.com/office/drawing/2014/main" id="{B73751B1-14B6-4514-9BE8-EB632B2543BE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DDD616-5DCE-4A99-8872-1A414AF90204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5F18C2BD-0DA9-429B-ACFC-268C85B9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34" name="PlaceHolder 2">
            <a:extLst>
              <a:ext uri="{FF2B5EF4-FFF2-40B4-BE49-F238E27FC236}">
                <a16:creationId xmlns:a16="http://schemas.microsoft.com/office/drawing/2014/main" id="{43BC25D1-D53D-4A27-ABE2-2354308F3F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PlaceHolder 3">
            <a:extLst>
              <a:ext uri="{FF2B5EF4-FFF2-40B4-BE49-F238E27FC236}">
                <a16:creationId xmlns:a16="http://schemas.microsoft.com/office/drawing/2014/main" id="{9B88B35A-30E9-44F4-A5C0-F10362283D3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36" name="PlaceHolder 4">
            <a:extLst>
              <a:ext uri="{FF2B5EF4-FFF2-40B4-BE49-F238E27FC236}">
                <a16:creationId xmlns:a16="http://schemas.microsoft.com/office/drawing/2014/main" id="{0F7B6F58-DC81-4DD5-8F0F-3150909E52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PlaceHolder 5">
            <a:extLst>
              <a:ext uri="{FF2B5EF4-FFF2-40B4-BE49-F238E27FC236}">
                <a16:creationId xmlns:a16="http://schemas.microsoft.com/office/drawing/2014/main" id="{F9CEAEFD-7C70-492B-868A-5A1237963B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38" name="PlaceHolder 6">
            <a:extLst>
              <a:ext uri="{FF2B5EF4-FFF2-40B4-BE49-F238E27FC236}">
                <a16:creationId xmlns:a16="http://schemas.microsoft.com/office/drawing/2014/main" id="{9C2C972D-ACE4-41FC-A0A5-FA6086136788}"/>
              </a:ext>
            </a:extLst>
          </p:cNvPr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7">
            <a:extLst>
              <a:ext uri="{FF2B5EF4-FFF2-40B4-BE49-F238E27FC236}">
                <a16:creationId xmlns:a16="http://schemas.microsoft.com/office/drawing/2014/main" id="{72DDE20A-3066-4D3F-975A-7B56F2C79932}"/>
              </a:ext>
            </a:extLst>
          </p:cNvPr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0" name="PlaceHolder 8">
            <a:extLst>
              <a:ext uri="{FF2B5EF4-FFF2-40B4-BE49-F238E27FC236}">
                <a16:creationId xmlns:a16="http://schemas.microsoft.com/office/drawing/2014/main" id="{4CE74D1C-213A-4B9F-A83A-AC18918FB8CB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8C1FA3-5E0D-4772-ABFA-4CE7F6E9D94F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>
            <a:extLst>
              <a:ext uri="{FF2B5EF4-FFF2-40B4-BE49-F238E27FC236}">
                <a16:creationId xmlns:a16="http://schemas.microsoft.com/office/drawing/2014/main" id="{16E77A3E-4BBF-401C-8A8C-44F0C4F3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42" name="PlaceHolder 2">
            <a:extLst>
              <a:ext uri="{FF2B5EF4-FFF2-40B4-BE49-F238E27FC236}">
                <a16:creationId xmlns:a16="http://schemas.microsoft.com/office/drawing/2014/main" id="{F060AB41-80F4-4E1A-A0EB-ECCEA34602EE}"/>
              </a:ext>
            </a:extLst>
          </p:cNvPr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3">
            <a:extLst>
              <a:ext uri="{FF2B5EF4-FFF2-40B4-BE49-F238E27FC236}">
                <a16:creationId xmlns:a16="http://schemas.microsoft.com/office/drawing/2014/main" id="{A59B6743-3620-4455-8C8B-BED8295E15B3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4" name="PlaceHolder 4">
            <a:extLst>
              <a:ext uri="{FF2B5EF4-FFF2-40B4-BE49-F238E27FC236}">
                <a16:creationId xmlns:a16="http://schemas.microsoft.com/office/drawing/2014/main" id="{07C3447B-CB6C-41B5-862B-4B3563B85491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06DF80-B1CA-458C-AF3F-59A6E37AFD53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>
            <a:extLst>
              <a:ext uri="{FF2B5EF4-FFF2-40B4-BE49-F238E27FC236}">
                <a16:creationId xmlns:a16="http://schemas.microsoft.com/office/drawing/2014/main" id="{2B230D7C-4AE1-4D1A-A4D9-80D18152FA90}"/>
              </a:ext>
            </a:extLst>
          </p:cNvPr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2">
            <a:extLst>
              <a:ext uri="{FF2B5EF4-FFF2-40B4-BE49-F238E27FC236}">
                <a16:creationId xmlns:a16="http://schemas.microsoft.com/office/drawing/2014/main" id="{134A0E62-5F26-4167-BB3E-9ABBAED93024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7" name="PlaceHolder 3">
            <a:extLst>
              <a:ext uri="{FF2B5EF4-FFF2-40B4-BE49-F238E27FC236}">
                <a16:creationId xmlns:a16="http://schemas.microsoft.com/office/drawing/2014/main" id="{6B1E7DCE-6409-4E72-B174-E0F437AA81A4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086FC6-AA5D-4DF9-9E79-62E5CEA0187F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PlaceHolder 4">
            <a:extLst>
              <a:ext uri="{FF2B5EF4-FFF2-40B4-BE49-F238E27FC236}">
                <a16:creationId xmlns:a16="http://schemas.microsoft.com/office/drawing/2014/main" id="{4F8A7FDF-FEB4-45EA-9A22-63F3398D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the title text format</a:t>
            </a:r>
          </a:p>
        </p:txBody>
      </p:sp>
      <p:sp>
        <p:nvSpPr>
          <p:cNvPr id="49" name="PlaceHolder 5">
            <a:extLst>
              <a:ext uri="{FF2B5EF4-FFF2-40B4-BE49-F238E27FC236}">
                <a16:creationId xmlns:a16="http://schemas.microsoft.com/office/drawing/2014/main" id="{E6C2CB65-6888-493D-8CEE-50BDF745463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>
            <a:extLst>
              <a:ext uri="{FF2B5EF4-FFF2-40B4-BE49-F238E27FC236}">
                <a16:creationId xmlns:a16="http://schemas.microsoft.com/office/drawing/2014/main" id="{ECECBA72-8008-40E2-A027-D109261E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51" name="PlaceHolder 2">
            <a:extLst>
              <a:ext uri="{FF2B5EF4-FFF2-40B4-BE49-F238E27FC236}">
                <a16:creationId xmlns:a16="http://schemas.microsoft.com/office/drawing/2014/main" id="{EEBF7B7C-77CE-4BD1-A0F5-A27BA94B103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52" name="PlaceHolder 3">
            <a:extLst>
              <a:ext uri="{FF2B5EF4-FFF2-40B4-BE49-F238E27FC236}">
                <a16:creationId xmlns:a16="http://schemas.microsoft.com/office/drawing/2014/main" id="{548BF55E-4151-4DA8-8254-57EFC89849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</p:txBody>
      </p:sp>
      <p:sp>
        <p:nvSpPr>
          <p:cNvPr id="53" name="PlaceHolder 4">
            <a:extLst>
              <a:ext uri="{FF2B5EF4-FFF2-40B4-BE49-F238E27FC236}">
                <a16:creationId xmlns:a16="http://schemas.microsoft.com/office/drawing/2014/main" id="{59F1F5E5-38B7-4343-B41D-9C561EF15310}"/>
              </a:ext>
            </a:extLst>
          </p:cNvPr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5">
            <a:extLst>
              <a:ext uri="{FF2B5EF4-FFF2-40B4-BE49-F238E27FC236}">
                <a16:creationId xmlns:a16="http://schemas.microsoft.com/office/drawing/2014/main" id="{D5EE615E-38CB-4078-A8C7-EEE6B3300206}"/>
              </a:ext>
            </a:extLst>
          </p:cNvPr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55" name="PlaceHolder 6">
            <a:extLst>
              <a:ext uri="{FF2B5EF4-FFF2-40B4-BE49-F238E27FC236}">
                <a16:creationId xmlns:a16="http://schemas.microsoft.com/office/drawing/2014/main" id="{5AD003D1-032A-442C-A979-A516E65EB7EA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278E14-7C11-47E9-81D6-1A53D21AC16C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>
            <a:extLst>
              <a:ext uri="{FF2B5EF4-FFF2-40B4-BE49-F238E27FC236}">
                <a16:creationId xmlns:a16="http://schemas.microsoft.com/office/drawing/2014/main" id="{0B7FEFF0-C49F-46DD-BDE9-5915CEF8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57" name="PlaceHolder 2">
            <a:extLst>
              <a:ext uri="{FF2B5EF4-FFF2-40B4-BE49-F238E27FC236}">
                <a16:creationId xmlns:a16="http://schemas.microsoft.com/office/drawing/2014/main" id="{4C9F57A5-CE1D-435C-B951-E9E53A8A48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  <p:sp>
        <p:nvSpPr>
          <p:cNvPr id="58" name="PlaceHolder 3">
            <a:extLst>
              <a:ext uri="{FF2B5EF4-FFF2-40B4-BE49-F238E27FC236}">
                <a16:creationId xmlns:a16="http://schemas.microsoft.com/office/drawing/2014/main" id="{F446DC3A-DB98-40B1-BF64-F72AF1FB610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</p:txBody>
      </p:sp>
      <p:sp>
        <p:nvSpPr>
          <p:cNvPr id="59" name="PlaceHolder 4">
            <a:extLst>
              <a:ext uri="{FF2B5EF4-FFF2-40B4-BE49-F238E27FC236}">
                <a16:creationId xmlns:a16="http://schemas.microsoft.com/office/drawing/2014/main" id="{EB94CB88-C53F-4453-B394-42488C86612A}"/>
              </a:ext>
            </a:extLst>
          </p:cNvPr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5">
            <a:extLst>
              <a:ext uri="{FF2B5EF4-FFF2-40B4-BE49-F238E27FC236}">
                <a16:creationId xmlns:a16="http://schemas.microsoft.com/office/drawing/2014/main" id="{131C28AC-D528-4278-A142-AFCDA8F65721}"/>
              </a:ext>
            </a:extLst>
          </p:cNvPr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61" name="PlaceHolder 6">
            <a:extLst>
              <a:ext uri="{FF2B5EF4-FFF2-40B4-BE49-F238E27FC236}">
                <a16:creationId xmlns:a16="http://schemas.microsoft.com/office/drawing/2014/main" id="{1D2552DE-BB6A-4022-A4AA-C783387D7136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156E9F-7FDB-40D1-8363-F0D431F534EB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>
            <a:extLst>
              <a:ext uri="{FF2B5EF4-FFF2-40B4-BE49-F238E27FC236}">
                <a16:creationId xmlns:a16="http://schemas.microsoft.com/office/drawing/2014/main" id="{88D87585-F27A-4428-AA5E-97823FF39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63" name="PlaceHolder 2">
            <a:extLst>
              <a:ext uri="{FF2B5EF4-FFF2-40B4-BE49-F238E27FC236}">
                <a16:creationId xmlns:a16="http://schemas.microsoft.com/office/drawing/2014/main" id="{7B92D105-BB34-4997-909A-BE2ABD51F68D}"/>
              </a:ext>
            </a:extLst>
          </p:cNvPr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PlaceHolder 3">
            <a:extLst>
              <a:ext uri="{FF2B5EF4-FFF2-40B4-BE49-F238E27FC236}">
                <a16:creationId xmlns:a16="http://schemas.microsoft.com/office/drawing/2014/main" id="{EF43EBB8-CB89-4FB9-83AB-95AAEB9ED3B3}"/>
              </a:ext>
            </a:extLst>
          </p:cNvPr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PlaceHolder 4">
            <a:extLst>
              <a:ext uri="{FF2B5EF4-FFF2-40B4-BE49-F238E27FC236}">
                <a16:creationId xmlns:a16="http://schemas.microsoft.com/office/drawing/2014/main" id="{B1221C81-A6C6-48B8-B138-D50FFD1955AF}"/>
              </a:ext>
            </a:extLst>
          </p:cNvPr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401405-F926-4472-9107-6BE7E58E778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3525389A-EFE9-4BF6-B03C-FD78AE626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67" name="PlaceHolder 2">
            <a:extLst>
              <a:ext uri="{FF2B5EF4-FFF2-40B4-BE49-F238E27FC236}">
                <a16:creationId xmlns:a16="http://schemas.microsoft.com/office/drawing/2014/main" id="{912C0007-51D4-468B-B7BF-B7BE6B12BC6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68" name="PlaceHolder 3">
            <a:extLst>
              <a:ext uri="{FF2B5EF4-FFF2-40B4-BE49-F238E27FC236}">
                <a16:creationId xmlns:a16="http://schemas.microsoft.com/office/drawing/2014/main" id="{C56E7D50-2598-4D05-9C28-AAB4ACAC9AD4}"/>
              </a:ext>
            </a:extLst>
          </p:cNvPr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9" name="PlaceHolder 4">
            <a:extLst>
              <a:ext uri="{FF2B5EF4-FFF2-40B4-BE49-F238E27FC236}">
                <a16:creationId xmlns:a16="http://schemas.microsoft.com/office/drawing/2014/main" id="{2E50AB6D-431A-4B00-BBE5-DD7513AC83CF}"/>
              </a:ext>
            </a:extLst>
          </p:cNvPr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0" name="PlaceHolder 5">
            <a:extLst>
              <a:ext uri="{FF2B5EF4-FFF2-40B4-BE49-F238E27FC236}">
                <a16:creationId xmlns:a16="http://schemas.microsoft.com/office/drawing/2014/main" id="{2D8012D2-F493-4E64-AD89-8156BA0B7B48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6B1515-7FD1-4443-A267-C8EC63358E78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>
            <a:extLst>
              <a:ext uri="{FF2B5EF4-FFF2-40B4-BE49-F238E27FC236}">
                <a16:creationId xmlns:a16="http://schemas.microsoft.com/office/drawing/2014/main" id="{F1C60519-9E38-46A0-B860-3BC87AC4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72" name="PlaceHolder 2">
            <a:extLst>
              <a:ext uri="{FF2B5EF4-FFF2-40B4-BE49-F238E27FC236}">
                <a16:creationId xmlns:a16="http://schemas.microsoft.com/office/drawing/2014/main" id="{6E598DA8-2372-4080-9760-1BA24A9653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73" name="PlaceHolder 3">
            <a:extLst>
              <a:ext uri="{FF2B5EF4-FFF2-40B4-BE49-F238E27FC236}">
                <a16:creationId xmlns:a16="http://schemas.microsoft.com/office/drawing/2014/main" id="{02FC9AC9-7C4D-413D-ABC4-AA121DD22D7E}"/>
              </a:ext>
            </a:extLst>
          </p:cNvPr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PlaceHolder 4">
            <a:extLst>
              <a:ext uri="{FF2B5EF4-FFF2-40B4-BE49-F238E27FC236}">
                <a16:creationId xmlns:a16="http://schemas.microsoft.com/office/drawing/2014/main" id="{9FE268F0-F6A6-46E7-B093-70E68649DAD0}"/>
              </a:ext>
            </a:extLst>
          </p:cNvPr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5" name="PlaceHolder 5">
            <a:extLst>
              <a:ext uri="{FF2B5EF4-FFF2-40B4-BE49-F238E27FC236}">
                <a16:creationId xmlns:a16="http://schemas.microsoft.com/office/drawing/2014/main" id="{E6BEF8EE-1394-48E5-BB33-DD8125465F48}"/>
              </a:ext>
            </a:extLst>
          </p:cNvPr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20E449-D0E3-401A-9B69-3F0EBE54E07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CB75FBB4-DA28-4586-8B69-31E81644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4627E67C-E276-42CD-8CF1-9115982D38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78" name="PlaceHolder 3">
            <a:extLst>
              <a:ext uri="{FF2B5EF4-FFF2-40B4-BE49-F238E27FC236}">
                <a16:creationId xmlns:a16="http://schemas.microsoft.com/office/drawing/2014/main" id="{95A26E0A-9D2E-4106-BDBD-E1F93CB3AFED}"/>
              </a:ext>
            </a:extLst>
          </p:cNvPr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9" name="PlaceHolder 4">
            <a:extLst>
              <a:ext uri="{FF2B5EF4-FFF2-40B4-BE49-F238E27FC236}">
                <a16:creationId xmlns:a16="http://schemas.microsoft.com/office/drawing/2014/main" id="{BD96C35B-96C7-492C-BA2B-CFD38751E147}"/>
              </a:ext>
            </a:extLst>
          </p:cNvPr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PlaceHolder 5">
            <a:extLst>
              <a:ext uri="{FF2B5EF4-FFF2-40B4-BE49-F238E27FC236}">
                <a16:creationId xmlns:a16="http://schemas.microsoft.com/office/drawing/2014/main" id="{E16240F7-B7BD-4C96-9B04-DCC7E6C30E1B}"/>
              </a:ext>
            </a:extLst>
          </p:cNvPr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24D5E-6AAC-4090-AAB1-05E4AB750AE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21B9A8EB-0ADB-49DC-A35F-4DFC7B9E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82" name="PlaceHolder 2">
            <a:extLst>
              <a:ext uri="{FF2B5EF4-FFF2-40B4-BE49-F238E27FC236}">
                <a16:creationId xmlns:a16="http://schemas.microsoft.com/office/drawing/2014/main" id="{18685455-71AB-4648-8534-5E7CD878FF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83" name="PlaceHolder 3">
            <a:extLst>
              <a:ext uri="{FF2B5EF4-FFF2-40B4-BE49-F238E27FC236}">
                <a16:creationId xmlns:a16="http://schemas.microsoft.com/office/drawing/2014/main" id="{E488A313-A602-4689-9D06-79CDCAF977CC}"/>
              </a:ext>
            </a:extLst>
          </p:cNvPr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4" name="PlaceHolder 4">
            <a:extLst>
              <a:ext uri="{FF2B5EF4-FFF2-40B4-BE49-F238E27FC236}">
                <a16:creationId xmlns:a16="http://schemas.microsoft.com/office/drawing/2014/main" id="{F55A1A78-D767-4010-9443-3C7D6C7870F1}"/>
              </a:ext>
            </a:extLst>
          </p:cNvPr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PlaceHolder 5">
            <a:extLst>
              <a:ext uri="{FF2B5EF4-FFF2-40B4-BE49-F238E27FC236}">
                <a16:creationId xmlns:a16="http://schemas.microsoft.com/office/drawing/2014/main" id="{20808F44-FC9D-4321-A948-6E12D5836C97}"/>
              </a:ext>
            </a:extLst>
          </p:cNvPr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378461-BB62-42AD-A66A-5E4E93053AE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>
            <a:extLst>
              <a:ext uri="{FF2B5EF4-FFF2-40B4-BE49-F238E27FC236}">
                <a16:creationId xmlns:a16="http://schemas.microsoft.com/office/drawing/2014/main" id="{C63043D7-ABA2-4FE1-A6E9-CB32A487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87" name="PlaceHolder 2">
            <a:extLst>
              <a:ext uri="{FF2B5EF4-FFF2-40B4-BE49-F238E27FC236}">
                <a16:creationId xmlns:a16="http://schemas.microsoft.com/office/drawing/2014/main" id="{96B84A83-2DC5-4119-B6B3-FD9332F5C2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88" name="PlaceHolder 3">
            <a:extLst>
              <a:ext uri="{FF2B5EF4-FFF2-40B4-BE49-F238E27FC236}">
                <a16:creationId xmlns:a16="http://schemas.microsoft.com/office/drawing/2014/main" id="{5DEFD3F1-2185-4342-A637-B5A6EF5B815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89" name="PlaceHolder 4">
            <a:extLst>
              <a:ext uri="{FF2B5EF4-FFF2-40B4-BE49-F238E27FC236}">
                <a16:creationId xmlns:a16="http://schemas.microsoft.com/office/drawing/2014/main" id="{45A11B14-BD68-45BE-9213-6DE944204DFB}"/>
              </a:ext>
            </a:extLst>
          </p:cNvPr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0" name="PlaceHolder 5">
            <a:extLst>
              <a:ext uri="{FF2B5EF4-FFF2-40B4-BE49-F238E27FC236}">
                <a16:creationId xmlns:a16="http://schemas.microsoft.com/office/drawing/2014/main" id="{3AA7CBE9-D634-42B0-BAA1-56D521F25654}"/>
              </a:ext>
            </a:extLst>
          </p:cNvPr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1" name="PlaceHolder 6">
            <a:extLst>
              <a:ext uri="{FF2B5EF4-FFF2-40B4-BE49-F238E27FC236}">
                <a16:creationId xmlns:a16="http://schemas.microsoft.com/office/drawing/2014/main" id="{A0FDD861-4A1C-45D0-8BA2-3BF1E1D2FA99}"/>
              </a:ext>
            </a:extLst>
          </p:cNvPr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1C374D-BAF5-44D3-A343-466E7B9631A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1C146C7D-38DD-4AF0-9790-60C1F3B96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5EF07B2D-6113-48C1-9605-9DDEAC06BC8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PlaceHolder 3">
            <a:extLst>
              <a:ext uri="{FF2B5EF4-FFF2-40B4-BE49-F238E27FC236}">
                <a16:creationId xmlns:a16="http://schemas.microsoft.com/office/drawing/2014/main" id="{7358BBA7-0E7D-4D07-8097-D1C3E43376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95" name="PlaceHolder 4">
            <a:extLst>
              <a:ext uri="{FF2B5EF4-FFF2-40B4-BE49-F238E27FC236}">
                <a16:creationId xmlns:a16="http://schemas.microsoft.com/office/drawing/2014/main" id="{185570BF-9F5E-40A1-9977-EBA1AA68D52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PlaceHolder 5">
            <a:extLst>
              <a:ext uri="{FF2B5EF4-FFF2-40B4-BE49-F238E27FC236}">
                <a16:creationId xmlns:a16="http://schemas.microsoft.com/office/drawing/2014/main" id="{92899B7D-90E0-4C87-B93A-37F963EF9F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97" name="PlaceHolder 6">
            <a:extLst>
              <a:ext uri="{FF2B5EF4-FFF2-40B4-BE49-F238E27FC236}">
                <a16:creationId xmlns:a16="http://schemas.microsoft.com/office/drawing/2014/main" id="{47D689A2-CCD1-41BB-BC41-F7D4F580B9D0}"/>
              </a:ext>
            </a:extLst>
          </p:cNvPr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8" name="PlaceHolder 7">
            <a:extLst>
              <a:ext uri="{FF2B5EF4-FFF2-40B4-BE49-F238E27FC236}">
                <a16:creationId xmlns:a16="http://schemas.microsoft.com/office/drawing/2014/main" id="{0AB9EC0C-A688-4365-B696-BF402F6B9C8C}"/>
              </a:ext>
            </a:extLst>
          </p:cNvPr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9" name="PlaceHolder 8">
            <a:extLst>
              <a:ext uri="{FF2B5EF4-FFF2-40B4-BE49-F238E27FC236}">
                <a16:creationId xmlns:a16="http://schemas.microsoft.com/office/drawing/2014/main" id="{1F35EFBA-8CFF-417A-977B-456E1D865F09}"/>
              </a:ext>
            </a:extLst>
          </p:cNvPr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AF4555-F209-44C3-AA12-B340BD98A21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>
            <a:extLst>
              <a:ext uri="{FF2B5EF4-FFF2-40B4-BE49-F238E27FC236}">
                <a16:creationId xmlns:a16="http://schemas.microsoft.com/office/drawing/2014/main" id="{E1BA09BE-0C03-431C-8FCF-CEB80045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101" name="PlaceHolder 2">
            <a:extLst>
              <a:ext uri="{FF2B5EF4-FFF2-40B4-BE49-F238E27FC236}">
                <a16:creationId xmlns:a16="http://schemas.microsoft.com/office/drawing/2014/main" id="{C1F4186D-0C61-4B88-8196-A1087545007A}"/>
              </a:ext>
            </a:extLst>
          </p:cNvPr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PlaceHolder 3">
            <a:extLst>
              <a:ext uri="{FF2B5EF4-FFF2-40B4-BE49-F238E27FC236}">
                <a16:creationId xmlns:a16="http://schemas.microsoft.com/office/drawing/2014/main" id="{F8B79A9D-E170-4B4F-9FE1-1F5572CF6702}"/>
              </a:ext>
            </a:extLst>
          </p:cNvPr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3" name="PlaceHolder 4">
            <a:extLst>
              <a:ext uri="{FF2B5EF4-FFF2-40B4-BE49-F238E27FC236}">
                <a16:creationId xmlns:a16="http://schemas.microsoft.com/office/drawing/2014/main" id="{41D648F2-07BA-41A4-8499-F7EDDE3A5E22}"/>
              </a:ext>
            </a:extLst>
          </p:cNvPr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1AD019-C666-4CB0-8515-1EF29152572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>
            <a:extLst>
              <a:ext uri="{FF2B5EF4-FFF2-40B4-BE49-F238E27FC236}">
                <a16:creationId xmlns:a16="http://schemas.microsoft.com/office/drawing/2014/main" id="{4818467C-AB72-4DD0-86E7-60C4FC339B04}"/>
              </a:ext>
            </a:extLst>
          </p:cNvPr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5" name="PlaceHolder 2">
            <a:extLst>
              <a:ext uri="{FF2B5EF4-FFF2-40B4-BE49-F238E27FC236}">
                <a16:creationId xmlns:a16="http://schemas.microsoft.com/office/drawing/2014/main" id="{81BDB482-862F-4BE6-B8C6-DAE7D2762D53}"/>
              </a:ext>
            </a:extLst>
          </p:cNvPr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6" name="PlaceHolder 3">
            <a:extLst>
              <a:ext uri="{FF2B5EF4-FFF2-40B4-BE49-F238E27FC236}">
                <a16:creationId xmlns:a16="http://schemas.microsoft.com/office/drawing/2014/main" id="{2B278786-343E-411D-9EDF-5C878C756A09}"/>
              </a:ext>
            </a:extLst>
          </p:cNvPr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D3FDF7-DE16-4012-B7EB-1271A5B4273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7" name="PlaceHolder 4">
            <a:extLst>
              <a:ext uri="{FF2B5EF4-FFF2-40B4-BE49-F238E27FC236}">
                <a16:creationId xmlns:a16="http://schemas.microsoft.com/office/drawing/2014/main" id="{305F5EB5-4AAF-4579-8225-D20B5363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</a:p>
        </p:txBody>
      </p:sp>
      <p:sp>
        <p:nvSpPr>
          <p:cNvPr id="108" name="PlaceHolder 5">
            <a:extLst>
              <a:ext uri="{FF2B5EF4-FFF2-40B4-BE49-F238E27FC236}">
                <a16:creationId xmlns:a16="http://schemas.microsoft.com/office/drawing/2014/main" id="{3E0D8CB7-A99D-4260-8059-837AC189AC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>
            <a:extLst>
              <a:ext uri="{FF2B5EF4-FFF2-40B4-BE49-F238E27FC236}">
                <a16:creationId xmlns:a16="http://schemas.microsoft.com/office/drawing/2014/main" id="{186264FB-B0CD-44D2-BCB2-B72C8608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110" name="PlaceHolder 2">
            <a:extLst>
              <a:ext uri="{FF2B5EF4-FFF2-40B4-BE49-F238E27FC236}">
                <a16:creationId xmlns:a16="http://schemas.microsoft.com/office/drawing/2014/main" id="{8C34E29F-65E8-4BFA-9EE3-3DAFEE403F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</a:p>
        </p:txBody>
      </p:sp>
      <p:sp>
        <p:nvSpPr>
          <p:cNvPr id="111" name="PlaceHolder 3">
            <a:extLst>
              <a:ext uri="{FF2B5EF4-FFF2-40B4-BE49-F238E27FC236}">
                <a16:creationId xmlns:a16="http://schemas.microsoft.com/office/drawing/2014/main" id="{515077AB-C790-4893-AF3D-E46493D65F3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112" name="PlaceHolder 4">
            <a:extLst>
              <a:ext uri="{FF2B5EF4-FFF2-40B4-BE49-F238E27FC236}">
                <a16:creationId xmlns:a16="http://schemas.microsoft.com/office/drawing/2014/main" id="{072C9561-CD98-41F9-AA8B-2B8D675DF8F0}"/>
              </a:ext>
            </a:extLst>
          </p:cNvPr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3" name="PlaceHolder 5">
            <a:extLst>
              <a:ext uri="{FF2B5EF4-FFF2-40B4-BE49-F238E27FC236}">
                <a16:creationId xmlns:a16="http://schemas.microsoft.com/office/drawing/2014/main" id="{4DF24FCF-7A8C-493D-981F-178D41CC7A81}"/>
              </a:ext>
            </a:extLst>
          </p:cNvPr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4" name="PlaceHolder 6">
            <a:extLst>
              <a:ext uri="{FF2B5EF4-FFF2-40B4-BE49-F238E27FC236}">
                <a16:creationId xmlns:a16="http://schemas.microsoft.com/office/drawing/2014/main" id="{7B80820D-94A2-4896-BF3F-9B08E75E78BC}"/>
              </a:ext>
            </a:extLst>
          </p:cNvPr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D7445-76FF-4179-A329-8636D62D40F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>
            <a:extLst>
              <a:ext uri="{FF2B5EF4-FFF2-40B4-BE49-F238E27FC236}">
                <a16:creationId xmlns:a16="http://schemas.microsoft.com/office/drawing/2014/main" id="{F56E6F33-F96C-4827-ABEE-408F77A2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Master title style</a:t>
            </a:r>
          </a:p>
        </p:txBody>
      </p:sp>
      <p:sp>
        <p:nvSpPr>
          <p:cNvPr id="116" name="PlaceHolder 2">
            <a:extLst>
              <a:ext uri="{FF2B5EF4-FFF2-40B4-BE49-F238E27FC236}">
                <a16:creationId xmlns:a16="http://schemas.microsoft.com/office/drawing/2014/main" id="{F573EF0A-8128-45E6-9E0E-E4BFB3E0A3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icon to add picture</a:t>
            </a:r>
          </a:p>
        </p:txBody>
      </p:sp>
      <p:sp>
        <p:nvSpPr>
          <p:cNvPr id="117" name="PlaceHolder 3">
            <a:extLst>
              <a:ext uri="{FF2B5EF4-FFF2-40B4-BE49-F238E27FC236}">
                <a16:creationId xmlns:a16="http://schemas.microsoft.com/office/drawing/2014/main" id="{F1835843-031A-427E-9104-D444DB2CDC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</a:p>
        </p:txBody>
      </p:sp>
      <p:sp>
        <p:nvSpPr>
          <p:cNvPr id="118" name="PlaceHolder 4">
            <a:extLst>
              <a:ext uri="{FF2B5EF4-FFF2-40B4-BE49-F238E27FC236}">
                <a16:creationId xmlns:a16="http://schemas.microsoft.com/office/drawing/2014/main" id="{B4946CCF-7310-457D-8319-741EEF7D761D}"/>
              </a:ext>
            </a:extLst>
          </p:cNvPr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9" name="PlaceHolder 5">
            <a:extLst>
              <a:ext uri="{FF2B5EF4-FFF2-40B4-BE49-F238E27FC236}">
                <a16:creationId xmlns:a16="http://schemas.microsoft.com/office/drawing/2014/main" id="{EB2AE06B-59AA-4C95-87A9-11079C40D489}"/>
              </a:ext>
            </a:extLst>
          </p:cNvPr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&lt;footer&gt;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0" name="PlaceHolder 6">
            <a:extLst>
              <a:ext uri="{FF2B5EF4-FFF2-40B4-BE49-F238E27FC236}">
                <a16:creationId xmlns:a16="http://schemas.microsoft.com/office/drawing/2014/main" id="{FA8A26BB-4A6F-4560-B2FB-154A8C2168F7}"/>
              </a:ext>
            </a:extLst>
          </p:cNvPr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B275B-3966-43BA-80A9-4E11956DAC0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5">
            <a:extLst>
              <a:ext uri="{FF2B5EF4-FFF2-40B4-BE49-F238E27FC236}">
                <a16:creationId xmlns:a16="http://schemas.microsoft.com/office/drawing/2014/main" id="{10912611-5AEA-4ED8-B7A5-B66AD74A3B8B}"/>
              </a:ext>
            </a:extLst>
          </p:cNvPr>
          <p:cNvSpPr>
            <a:spLocks noGrp="1"/>
          </p:cNvSpPr>
          <p:nvPr/>
        </p:nvSpPr>
        <p:spPr>
          <a:xfrm>
            <a:off x="2995560" y="2868120"/>
            <a:ext cx="6200280" cy="608160"/>
          </a:xfrm>
          <a:prstGeom prst="rect">
            <a:avLst/>
          </a:prstGeom>
          <a:noFill/>
          <a:ln w="0">
            <a:noFill/>
          </a:ln>
          <a:effectLst>
            <a:glow rad="139680">
              <a:srgbClr val="FF6A1C">
                <a:alpha val="40000"/>
              </a:srgb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t>Date: 26 September 2026</a:t>
            </a:r>
            <a:endParaRPr sz="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46" name="Table 17"/>
          <p:cNvGraphicFramePr/>
          <p:nvPr/>
        </p:nvGraphicFramePr>
        <p:xfrm>
          <a:off x="8193240" y="4898520"/>
          <a:ext cx="3701880" cy="999720"/>
        </p:xfrm>
        <a:graphic>
          <a:graphicData uri="http://schemas.openxmlformats.org/drawingml/2006/table">
            <a:tbl>
              <a:tblPr/>
              <a:tblGrid>
                <a:gridCol w="370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9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600" b="1" u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Team Members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300" b="1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P.Devaansh Sai  (Roll No:2420030787)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300" b="1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BHUVAN  (Roll No: 2420030767)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300" b="1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V.Abhignan  (Roll No: 2420030731)</a:t>
                      </a:r>
                      <a:endParaRPr sz="13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" name="Isosceles Triangle 21">
            <a:extLst>
              <a:ext uri="{FF2B5EF4-FFF2-40B4-BE49-F238E27FC236}">
                <a16:creationId xmlns:a16="http://schemas.microsoft.com/office/drawing/2014/main" id="{99F3C9ED-03A9-4F26-839E-2A0BC22EDB4D}"/>
              </a:ext>
            </a:extLst>
          </p:cNvPr>
          <p:cNvSpPr>
            <a:spLocks noGrp="1"/>
          </p:cNvSpPr>
          <p:nvPr/>
        </p:nvSpPr>
        <p:spPr>
          <a:xfrm rot="8295000">
            <a:off x="8038440" y="4765680"/>
            <a:ext cx="160560" cy="232560"/>
          </a:xfrm>
          <a:prstGeom prst="triangle">
            <a:avLst>
              <a:gd name="adj" fmla="val 50000"/>
            </a:avLst>
          </a:prstGeom>
          <a:solidFill>
            <a:srgbClr val="FF66FF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sz="1800" b="0" u="none">
              <a:solidFill>
                <a:schemeClr val="lt1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31" name="Isosceles Triangle 22">
            <a:extLst>
              <a:ext uri="{FF2B5EF4-FFF2-40B4-BE49-F238E27FC236}">
                <a16:creationId xmlns:a16="http://schemas.microsoft.com/office/drawing/2014/main" id="{45E1C94F-7BBD-402C-9DD8-94DA62B9C819}"/>
              </a:ext>
            </a:extLst>
          </p:cNvPr>
          <p:cNvSpPr>
            <a:spLocks noGrp="1"/>
          </p:cNvSpPr>
          <p:nvPr/>
        </p:nvSpPr>
        <p:spPr>
          <a:xfrm rot="11852400">
            <a:off x="8154720" y="4792320"/>
            <a:ext cx="113760" cy="153000"/>
          </a:xfrm>
          <a:prstGeom prst="triangle">
            <a:avLst>
              <a:gd name="adj" fmla="val 50000"/>
            </a:avLst>
          </a:prstGeom>
          <a:solidFill>
            <a:srgbClr val="FF66FF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680" rIns="90000" bIns="31680" anchor="ctr">
            <a:noAutofit/>
          </a:bodyPr>
          <a:lstStyle/>
          <a:p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149" name="Table 29"/>
          <p:cNvGraphicFramePr/>
          <p:nvPr/>
        </p:nvGraphicFramePr>
        <p:xfrm>
          <a:off x="-795960" y="4773960"/>
          <a:ext cx="5901840" cy="1332000"/>
        </p:xfrm>
        <a:graphic>
          <a:graphicData uri="http://schemas.openxmlformats.org/drawingml/2006/table">
            <a:tbl>
              <a:tblPr/>
              <a:tblGrid>
                <a:gridCol w="13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000">
                <a:tc>
                  <a:txBody>
                    <a:bodyPr/>
                    <a:lstStyle/>
                    <a:p>
                      <a:endParaRPr sz="1800" b="0" u="none">
                        <a:solidFill>
                          <a:schemeClr val="dk1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buNone/>
                      </a:pPr>
                      <a:endParaRPr sz="5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buNone/>
                      </a:pPr>
                      <a:r>
                        <a:rPr sz="1600" b="1" u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Under the Guidance of</a:t>
                      </a:r>
                      <a:endParaRPr sz="16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sz="1400" b="1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Dr.Nelima Gogineni</a:t>
                      </a:r>
                      <a:r>
                        <a:rPr sz="1400" b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4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sz="1400" b="1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Department of </a:t>
                      </a:r>
                      <a:r>
                        <a:rPr sz="1400" b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Computer Science and Engineering, </a:t>
                      </a:r>
                      <a:endParaRPr sz="14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sz="1400" b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KLH CSE Bowrampet Campus</a:t>
                      </a:r>
                      <a:endParaRPr sz="1400" b="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4" name="Isosceles Triangle 31">
            <a:extLst>
              <a:ext uri="{FF2B5EF4-FFF2-40B4-BE49-F238E27FC236}">
                <a16:creationId xmlns:a16="http://schemas.microsoft.com/office/drawing/2014/main" id="{C448F059-8F42-4A94-BF13-D9FEC49D1A03}"/>
              </a:ext>
            </a:extLst>
          </p:cNvPr>
          <p:cNvSpPr>
            <a:spLocks noGrp="1"/>
          </p:cNvSpPr>
          <p:nvPr/>
        </p:nvSpPr>
        <p:spPr>
          <a:xfrm rot="8295000">
            <a:off x="442800" y="4562640"/>
            <a:ext cx="160560" cy="232560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sz="1800" b="0" u="none">
              <a:solidFill>
                <a:schemeClr val="lt1"/>
              </a:solidFill>
              <a:highlight>
                <a:srgbClr val="FFFF00"/>
              </a:highlight>
              <a:latin typeface="Aptos"/>
              <a:ea typeface="Aptos"/>
              <a:cs typeface="Aptos"/>
            </a:endParaRPr>
          </a:p>
        </p:txBody>
      </p:sp>
      <p:sp>
        <p:nvSpPr>
          <p:cNvPr id="135" name="Isosceles Triangle 32">
            <a:extLst>
              <a:ext uri="{FF2B5EF4-FFF2-40B4-BE49-F238E27FC236}">
                <a16:creationId xmlns:a16="http://schemas.microsoft.com/office/drawing/2014/main" id="{7ACB194A-390E-446D-941F-F4EF669A887F}"/>
              </a:ext>
            </a:extLst>
          </p:cNvPr>
          <p:cNvSpPr>
            <a:spLocks noGrp="1"/>
          </p:cNvSpPr>
          <p:nvPr/>
        </p:nvSpPr>
        <p:spPr>
          <a:xfrm rot="11852400">
            <a:off x="558720" y="4589280"/>
            <a:ext cx="113760" cy="153000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680" rIns="90000" bIns="31680" anchor="ctr">
            <a:noAutofit/>
          </a:bodyPr>
          <a:lstStyle/>
          <a:p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6" name="PlaceHolder 1">
            <a:extLst>
              <a:ext uri="{FF2B5EF4-FFF2-40B4-BE49-F238E27FC236}">
                <a16:creationId xmlns:a16="http://schemas.microsoft.com/office/drawing/2014/main" id="{3DAF2A13-0E3B-480A-B54D-3CD686F39EBF}"/>
              </a:ext>
            </a:extLst>
          </p:cNvPr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1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1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Date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7" name="PlaceHolder 2">
            <a:extLst>
              <a:ext uri="{FF2B5EF4-FFF2-40B4-BE49-F238E27FC236}">
                <a16:creationId xmlns:a16="http://schemas.microsoft.com/office/drawing/2014/main" id="{2B2A74AB-F9B4-4500-80FD-B468395CC024}"/>
              </a:ext>
            </a:extLst>
          </p:cNvPr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sz="1200" b="1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sz="1200" b="1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Rural Health Companion  |  Project Review–2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8" name="Rectangle: Rounded Corners 3">
            <a:extLst>
              <a:ext uri="{FF2B5EF4-FFF2-40B4-BE49-F238E27FC236}">
                <a16:creationId xmlns:a16="http://schemas.microsoft.com/office/drawing/2014/main" id="{9288D6AA-0DB1-4436-8B1B-A0E7A8E7A315}"/>
              </a:ext>
            </a:extLst>
          </p:cNvPr>
          <p:cNvSpPr>
            <a:spLocks noGrp="1"/>
          </p:cNvSpPr>
          <p:nvPr/>
        </p:nvSpPr>
        <p:spPr>
          <a:xfrm>
            <a:off x="638280" y="769320"/>
            <a:ext cx="10915200" cy="98532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2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5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3">
            <a:extLst>
              <a:ext uri="{FF2B5EF4-FFF2-40B4-BE49-F238E27FC236}">
                <a16:creationId xmlns:a16="http://schemas.microsoft.com/office/drawing/2014/main" id="{88E6501C-28F4-4F07-A785-D8268B62FF13}"/>
              </a:ext>
            </a:extLst>
          </p:cNvPr>
          <p:cNvSpPr>
            <a:spLocks noGrp="1"/>
          </p:cNvSpPr>
          <p:nvPr/>
        </p:nvSpPr>
        <p:spPr>
          <a:xfrm>
            <a:off x="738360" y="810720"/>
            <a:ext cx="107154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2000" b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Rural Health Companion — Unified Rural Healthcare Platform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Box 16">
            <a:extLst>
              <a:ext uri="{FF2B5EF4-FFF2-40B4-BE49-F238E27FC236}">
                <a16:creationId xmlns:a16="http://schemas.microsoft.com/office/drawing/2014/main" id="{E8838026-7112-49A6-AB85-D52D5417569C}"/>
              </a:ext>
            </a:extLst>
          </p:cNvPr>
          <p:cNvSpPr>
            <a:spLocks noGrp="1"/>
          </p:cNvSpPr>
          <p:nvPr/>
        </p:nvSpPr>
        <p:spPr>
          <a:xfrm>
            <a:off x="738360" y="2246760"/>
            <a:ext cx="1071540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Project Review Meeting–2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8555ED24-3DCE-40A2-8F1C-0F618E84630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AA3AC49-2D2A-42E8-AE5C-F21150DDA19F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83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3">
            <a:extLst>
              <a:ext uri="{FF2B5EF4-FFF2-40B4-BE49-F238E27FC236}">
                <a16:creationId xmlns:a16="http://schemas.microsoft.com/office/drawing/2014/main" id="{B287B0DE-CAC7-4B66-AE86-3FD047C17B9A}"/>
              </a:ext>
            </a:extLst>
          </p:cNvPr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rgbClr val="8B8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241CF7-CC6E-46BA-A7D5-B35F79FE9AC4}" type="slidenum">
              <a:rPr sz="1200" b="0" u="none">
                <a:solidFill>
                  <a:srgbClr val="8B8B8B"/>
                </a:solidFill>
                <a:latin typeface="Calibri"/>
                <a:ea typeface="Calibri"/>
                <a:cs typeface="Calibri"/>
              </a:rPr>
              <a:t>2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5" name="TextBox 8">
            <a:extLst>
              <a:ext uri="{FF2B5EF4-FFF2-40B4-BE49-F238E27FC236}">
                <a16:creationId xmlns:a16="http://schemas.microsoft.com/office/drawing/2014/main" id="{3F57B80B-F2C9-40AD-8427-354F9458E1F9}"/>
              </a:ext>
            </a:extLst>
          </p:cNvPr>
          <p:cNvSpPr>
            <a:spLocks noGrp="1"/>
          </p:cNvSpPr>
          <p:nvPr/>
        </p:nvSpPr>
        <p:spPr>
          <a:xfrm>
            <a:off x="3020760" y="173520"/>
            <a:ext cx="5853960" cy="64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3600" b="1" u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</a:rPr>
              <a:t>Outline of Project Review–2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Box 15">
            <a:extLst>
              <a:ext uri="{FF2B5EF4-FFF2-40B4-BE49-F238E27FC236}">
                <a16:creationId xmlns:a16="http://schemas.microsoft.com/office/drawing/2014/main" id="{4488D6C8-487F-46A0-A720-9BA6A0A1ACFA}"/>
              </a:ext>
            </a:extLst>
          </p:cNvPr>
          <p:cNvSpPr>
            <a:spLocks noGrp="1"/>
          </p:cNvSpPr>
          <p:nvPr/>
        </p:nvSpPr>
        <p:spPr>
          <a:xfrm>
            <a:off x="2747160" y="2978640"/>
            <a:ext cx="4267080" cy="1004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20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Methodology Adopted</a:t>
            </a:r>
            <a:endParaRPr sz="2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Box 17">
            <a:extLst>
              <a:ext uri="{FF2B5EF4-FFF2-40B4-BE49-F238E27FC236}">
                <a16:creationId xmlns:a16="http://schemas.microsoft.com/office/drawing/2014/main" id="{86168E2E-0B84-4025-9F43-A2D15143CF2A}"/>
              </a:ext>
            </a:extLst>
          </p:cNvPr>
          <p:cNvSpPr>
            <a:spLocks noGrp="1"/>
          </p:cNvSpPr>
          <p:nvPr/>
        </p:nvSpPr>
        <p:spPr>
          <a:xfrm>
            <a:off x="2994480" y="3474720"/>
            <a:ext cx="4374360" cy="912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18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Technical Soundness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19">
            <a:extLst>
              <a:ext uri="{FF2B5EF4-FFF2-40B4-BE49-F238E27FC236}">
                <a16:creationId xmlns:a16="http://schemas.microsoft.com/office/drawing/2014/main" id="{B49C69E6-6033-4E79-9A4E-CC81FA2CBC78}"/>
              </a:ext>
            </a:extLst>
          </p:cNvPr>
          <p:cNvSpPr>
            <a:spLocks noGrp="1"/>
          </p:cNvSpPr>
          <p:nvPr/>
        </p:nvSpPr>
        <p:spPr>
          <a:xfrm>
            <a:off x="3211560" y="4054320"/>
            <a:ext cx="4529160" cy="9770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spcBef>
                <a:spcPts val="505"/>
              </a:spcBef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18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Security &amp; Privacy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Box 21">
            <a:extLst>
              <a:ext uri="{FF2B5EF4-FFF2-40B4-BE49-F238E27FC236}">
                <a16:creationId xmlns:a16="http://schemas.microsoft.com/office/drawing/2014/main" id="{62D7464F-74E1-45AD-A26C-000024005304}"/>
              </a:ext>
            </a:extLst>
          </p:cNvPr>
          <p:cNvSpPr>
            <a:spLocks noGrp="1"/>
          </p:cNvSpPr>
          <p:nvPr/>
        </p:nvSpPr>
        <p:spPr>
          <a:xfrm>
            <a:off x="3497760" y="4601520"/>
            <a:ext cx="4774320" cy="919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spcBef>
                <a:spcPts val="505"/>
              </a:spcBef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20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Status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23">
            <a:extLst>
              <a:ext uri="{FF2B5EF4-FFF2-40B4-BE49-F238E27FC236}">
                <a16:creationId xmlns:a16="http://schemas.microsoft.com/office/drawing/2014/main" id="{13339609-15E2-4AF6-B3B5-9996507185E0}"/>
              </a:ext>
            </a:extLst>
          </p:cNvPr>
          <p:cNvSpPr>
            <a:spLocks noGrp="1"/>
          </p:cNvSpPr>
          <p:nvPr/>
        </p:nvSpPr>
        <p:spPr>
          <a:xfrm>
            <a:off x="3894120" y="5204520"/>
            <a:ext cx="4891320" cy="612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spcBef>
                <a:spcPts val="505"/>
              </a:spcBef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18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Content Placeholder 11">
            <a:extLst>
              <a:ext uri="{FF2B5EF4-FFF2-40B4-BE49-F238E27FC236}">
                <a16:creationId xmlns:a16="http://schemas.microsoft.com/office/drawing/2014/main" id="{20F6A0E0-BDCF-41CB-9179-4330ABC527CA}"/>
              </a:ext>
            </a:extLst>
          </p:cNvPr>
          <p:cNvSpPr>
            <a:spLocks noGrp="1"/>
          </p:cNvSpPr>
          <p:nvPr/>
        </p:nvSpPr>
        <p:spPr>
          <a:xfrm>
            <a:off x="2001240" y="1378080"/>
            <a:ext cx="3547800" cy="7488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anchor="t">
            <a:normAutofit/>
          </a:bodyPr>
          <a:lstStyle/>
          <a:p>
            <a:pPr marL="430200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20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Review Focus Areas</a:t>
            </a:r>
            <a:endParaRPr sz="2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Content Placeholder 11">
            <a:extLst>
              <a:ext uri="{FF2B5EF4-FFF2-40B4-BE49-F238E27FC236}">
                <a16:creationId xmlns:a16="http://schemas.microsoft.com/office/drawing/2014/main" id="{20FC64E6-9DAF-4218-9798-1990AFB03840}"/>
              </a:ext>
            </a:extLst>
          </p:cNvPr>
          <p:cNvSpPr>
            <a:spLocks noGrp="1"/>
          </p:cNvSpPr>
          <p:nvPr/>
        </p:nvSpPr>
        <p:spPr>
          <a:xfrm>
            <a:off x="2281680" y="1939320"/>
            <a:ext cx="3885840" cy="66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anchor="t">
            <a:normAutofit/>
          </a:bodyPr>
          <a:lstStyle/>
          <a:p>
            <a:pPr marL="430200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20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Overview</a:t>
            </a:r>
            <a:endParaRPr sz="2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Box 13">
            <a:extLst>
              <a:ext uri="{FF2B5EF4-FFF2-40B4-BE49-F238E27FC236}">
                <a16:creationId xmlns:a16="http://schemas.microsoft.com/office/drawing/2014/main" id="{4139821E-3CA8-450A-8AB7-6635E6619CFA}"/>
              </a:ext>
            </a:extLst>
          </p:cNvPr>
          <p:cNvSpPr>
            <a:spLocks noGrp="1"/>
          </p:cNvSpPr>
          <p:nvPr/>
        </p:nvSpPr>
        <p:spPr>
          <a:xfrm>
            <a:off x="2562120" y="2494800"/>
            <a:ext cx="4003920" cy="5563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30200" indent="-343080" defTabSz="457200">
              <a:lnSpc>
                <a:spcPct val="150000"/>
              </a:lnSpc>
              <a:buClr>
                <a:srgbClr val="FFFFFF"/>
              </a:buClr>
              <a:buFont typeface="Arial"/>
              <a:buChar char="•"/>
              <a:tabLst>
                <a:tab pos="444600" algn="l"/>
              </a:tabLst>
            </a:pPr>
            <a:r>
              <a:rPr sz="204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 Design</a:t>
            </a:r>
            <a:endParaRPr sz="204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3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00800" cy="6220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792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4">
            <a:extLst>
              <a:ext uri="{FF2B5EF4-FFF2-40B4-BE49-F238E27FC236}">
                <a16:creationId xmlns:a16="http://schemas.microsoft.com/office/drawing/2014/main" id="{0A9022F8-9497-489B-A85A-4E471D4CE939}"/>
              </a:ext>
            </a:extLst>
          </p:cNvPr>
          <p:cNvSpPr>
            <a:spLocks noGrp="1"/>
          </p:cNvSpPr>
          <p:nvPr/>
        </p:nvSpPr>
        <p:spPr>
          <a:xfrm>
            <a:off x="3992040" y="482400"/>
            <a:ext cx="609552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Project Design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9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66" name="TextBox 5">
            <a:extLst>
              <a:ext uri="{FF2B5EF4-FFF2-40B4-BE49-F238E27FC236}">
                <a16:creationId xmlns:a16="http://schemas.microsoft.com/office/drawing/2014/main" id="{8D74E7A9-301D-49D9-AF12-0547090D708D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10515240" cy="458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Rural patients may face long travel distances, limited specialist availability, weak medicine follow-up, difficulty finding pharmacies, and delays in emergency response.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Rural Health Companion links doctor discovery, appointments, consultations, prescriptions, medicine reminders, pharmacy access, and ambulance support in one web platform.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The system supports five roles: patient, doctor, pharmacy, ambulance operator, and administrator.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Each healthcare capability remains modular while the portal connects the patient journey across services.</a:t>
            </a:r>
          </a:p>
        </p:txBody>
      </p:sp>
    </p:spTree>
    <p:extLst>
      <p:ext uri="{BB962C8B-B14F-4D97-AF65-F5344CB8AC3E}">
        <p14:creationId xmlns:p14="http://schemas.microsoft.com/office/powerpoint/2010/main" val="156594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4">
            <a:extLst>
              <a:ext uri="{FF2B5EF4-FFF2-40B4-BE49-F238E27FC236}">
                <a16:creationId xmlns:a16="http://schemas.microsoft.com/office/drawing/2014/main" id="{C10A9EC4-CF81-4013-9E9A-C51B35555A37}"/>
              </a:ext>
            </a:extLst>
          </p:cNvPr>
          <p:cNvSpPr>
            <a:spLocks noGrp="1"/>
          </p:cNvSpPr>
          <p:nvPr/>
        </p:nvSpPr>
        <p:spPr>
          <a:xfrm>
            <a:off x="3048120" y="469080"/>
            <a:ext cx="609552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Methodology Adopted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2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69" name="TextBox 5">
            <a:extLst>
              <a:ext uri="{FF2B5EF4-FFF2-40B4-BE49-F238E27FC236}">
                <a16:creationId xmlns:a16="http://schemas.microsoft.com/office/drawing/2014/main" id="{16757D6D-FEC4-4E6D-A59F-A60A3EE29433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10515240" cy="40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Requirements were organized around five user roles and the patient, doctor, pharmacy, and ambulance workflows.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The system was divided into Spring Boot services by healthcare domain, with a separate data boundary for each business service.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The Next.js portal sends requests through the API Gateway; Eureka supports service discovery, while REST and OpenFeign connect backend services.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Core records persist across appointment, consultation, prescription, medicine, pharmacy-order, and emergency lifecycles.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The named verification tools are JUnit, Spring integration tests, MockMvc, and Playwright; the source provides no test results or coverage figures.</a:t>
            </a:r>
          </a:p>
        </p:txBody>
      </p:sp>
    </p:spTree>
    <p:extLst>
      <p:ext uri="{BB962C8B-B14F-4D97-AF65-F5344CB8AC3E}">
        <p14:creationId xmlns:p14="http://schemas.microsoft.com/office/powerpoint/2010/main" val="145303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4">
            <a:extLst>
              <a:ext uri="{FF2B5EF4-FFF2-40B4-BE49-F238E27FC236}">
                <a16:creationId xmlns:a16="http://schemas.microsoft.com/office/drawing/2014/main" id="{C10A9EC4-CF81-4013-9E9A-C51B35555A37}"/>
              </a:ext>
            </a:extLst>
          </p:cNvPr>
          <p:cNvSpPr>
            <a:spLocks noGrp="1"/>
          </p:cNvSpPr>
          <p:nvPr/>
        </p:nvSpPr>
        <p:spPr>
          <a:xfrm>
            <a:off x="3048120" y="469080"/>
            <a:ext cx="609552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System Architecture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9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69" name="TextBox 5">
            <a:extLst>
              <a:ext uri="{FF2B5EF4-FFF2-40B4-BE49-F238E27FC236}">
                <a16:creationId xmlns:a16="http://schemas.microsoft.com/office/drawing/2014/main" id="{16757D6D-FEC4-4E6D-A59F-A60A3EE29433}"/>
              </a:ext>
            </a:extLst>
          </p:cNvPr>
          <p:cNvSpPr>
            <a:spLocks noGrp="1"/>
          </p:cNvSpPr>
          <p:nvPr/>
        </p:nvSpPr>
        <p:spPr>
          <a:xfrm>
            <a:off x="822960" y="1463040"/>
            <a:ext cx="10515240" cy="40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1" name="user-roles-frame">
            <a:extLst>
              <a:ext uri="{FF2B5EF4-FFF2-40B4-BE49-F238E27FC236}">
                <a16:creationId xmlns:a16="http://schemas.microsoft.com/office/drawing/2014/main" id="{7D1DBF64-8024-4BDB-ABBE-1A2E041EDC01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095500" cy="723900"/>
          </a:xfrm>
          <a:prstGeom prst="rect">
            <a:avLst/>
          </a:prstGeom>
          <a:solidFill>
            <a:srgbClr val="EFF7FB"/>
          </a:solidFill>
          <a:ln w="19050">
            <a:solidFill>
              <a:srgbClr val="0070C0"/>
            </a:solidFill>
          </a:ln>
        </p:spPr>
      </p:sp>
      <p:sp>
        <p:nvSpPr>
          <p:cNvPr id="172" name="user-roles-header">
            <a:extLst>
              <a:ext uri="{FF2B5EF4-FFF2-40B4-BE49-F238E27FC236}">
                <a16:creationId xmlns:a16="http://schemas.microsoft.com/office/drawing/2014/main" id="{14F3CFEA-96FE-4E10-9DCB-AA179106C47F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09550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173" name="user-roles-label">
            <a:extLst>
              <a:ext uri="{FF2B5EF4-FFF2-40B4-BE49-F238E27FC236}">
                <a16:creationId xmlns:a16="http://schemas.microsoft.com/office/drawing/2014/main" id="{09F4BEA4-A382-4691-9031-765DF9BC1E9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ROLES</a:t>
            </a:r>
          </a:p>
        </p:txBody>
      </p:sp>
      <p:sp>
        <p:nvSpPr>
          <p:cNvPr id="174" name="user-roles-body">
            <a:extLst>
              <a:ext uri="{FF2B5EF4-FFF2-40B4-BE49-F238E27FC236}">
                <a16:creationId xmlns:a16="http://schemas.microsoft.com/office/drawing/2014/main" id="{216F8CD2-44C7-4ED5-9F23-134FA1129412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18669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2122"/>
          </a:bodyPr>
          <a:lstStyle/>
          <a:p>
            <a:pPr algn="ctr">
              <a:buNone/>
              <a:defRPr sz="120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Patients • Doctors • Pharmacy • Ambulance • Admin</a:t>
            </a:r>
          </a:p>
        </p:txBody>
      </p:sp>
      <p:sp>
        <p:nvSpPr>
          <p:cNvPr id="175" name="portal-frame">
            <a:extLst>
              <a:ext uri="{FF2B5EF4-FFF2-40B4-BE49-F238E27FC236}">
                <a16:creationId xmlns:a16="http://schemas.microsoft.com/office/drawing/2014/main" id="{3966D993-D335-482F-899B-54B8A1071EC2}"/>
              </a:ext>
            </a:extLst>
          </p:cNvPr>
          <p:cNvSpPr>
            <a:spLocks noGrp="1"/>
          </p:cNvSpPr>
          <p:nvPr/>
        </p:nvSpPr>
        <p:spPr>
          <a:xfrm>
            <a:off x="3524250" y="1562100"/>
            <a:ext cx="2095500" cy="723900"/>
          </a:xfrm>
          <a:prstGeom prst="rect">
            <a:avLst/>
          </a:prstGeom>
          <a:solidFill>
            <a:srgbClr val="DCEFF8"/>
          </a:solidFill>
          <a:ln w="19050">
            <a:solidFill>
              <a:srgbClr val="0070C0"/>
            </a:solidFill>
          </a:ln>
        </p:spPr>
      </p:sp>
      <p:sp>
        <p:nvSpPr>
          <p:cNvPr id="176" name="portal-header">
            <a:extLst>
              <a:ext uri="{FF2B5EF4-FFF2-40B4-BE49-F238E27FC236}">
                <a16:creationId xmlns:a16="http://schemas.microsoft.com/office/drawing/2014/main" id="{5241A1D1-2003-4EE4-BFC1-3444E6BF2D75}"/>
              </a:ext>
            </a:extLst>
          </p:cNvPr>
          <p:cNvSpPr>
            <a:spLocks noGrp="1"/>
          </p:cNvSpPr>
          <p:nvPr/>
        </p:nvSpPr>
        <p:spPr>
          <a:xfrm>
            <a:off x="3524250" y="1562100"/>
            <a:ext cx="209550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177" name="portal-label">
            <a:extLst>
              <a:ext uri="{FF2B5EF4-FFF2-40B4-BE49-F238E27FC236}">
                <a16:creationId xmlns:a16="http://schemas.microsoft.com/office/drawing/2014/main" id="{C44DF24F-703A-4D65-B637-5BCB55825EC6}"/>
              </a:ext>
            </a:extLst>
          </p:cNvPr>
          <p:cNvSpPr>
            <a:spLocks noGrp="1"/>
          </p:cNvSpPr>
          <p:nvPr/>
        </p:nvSpPr>
        <p:spPr>
          <a:xfrm>
            <a:off x="3581400" y="1581150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PORTAL</a:t>
            </a:r>
          </a:p>
        </p:txBody>
      </p:sp>
      <p:sp>
        <p:nvSpPr>
          <p:cNvPr id="178" name="portal-body">
            <a:extLst>
              <a:ext uri="{FF2B5EF4-FFF2-40B4-BE49-F238E27FC236}">
                <a16:creationId xmlns:a16="http://schemas.microsoft.com/office/drawing/2014/main" id="{E3B510F5-55A4-4B80-89BC-D97C136CE3AE}"/>
              </a:ext>
            </a:extLst>
          </p:cNvPr>
          <p:cNvSpPr>
            <a:spLocks noGrp="1"/>
          </p:cNvSpPr>
          <p:nvPr/>
        </p:nvSpPr>
        <p:spPr>
          <a:xfrm>
            <a:off x="3638550" y="1952625"/>
            <a:ext cx="18669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786"/>
          </a:bodyPr>
          <a:lstStyle/>
          <a:p>
            <a:pPr algn="ctr">
              <a:buNone/>
              <a:def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Next.js • React • TypeScript</a:t>
            </a:r>
          </a:p>
        </p:txBody>
      </p:sp>
      <p:sp>
        <p:nvSpPr>
          <p:cNvPr id="179" name="gateway-frame">
            <a:extLst>
              <a:ext uri="{FF2B5EF4-FFF2-40B4-BE49-F238E27FC236}">
                <a16:creationId xmlns:a16="http://schemas.microsoft.com/office/drawing/2014/main" id="{E0AF94D5-D757-4268-A831-65CE374A9C30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095500" cy="723900"/>
          </a:xfrm>
          <a:prstGeom prst="rect">
            <a:avLst/>
          </a:prstGeom>
          <a:solidFill>
            <a:srgbClr val="FFF8DD"/>
          </a:solidFill>
          <a:ln w="19050">
            <a:solidFill>
              <a:srgbClr val="0070C0"/>
            </a:solidFill>
          </a:ln>
        </p:spPr>
      </p:sp>
      <p:sp>
        <p:nvSpPr>
          <p:cNvPr id="180" name="gateway-header">
            <a:extLst>
              <a:ext uri="{FF2B5EF4-FFF2-40B4-BE49-F238E27FC236}">
                <a16:creationId xmlns:a16="http://schemas.microsoft.com/office/drawing/2014/main" id="{F2242496-D35E-45DE-95FD-347EA7F0CB48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095500" cy="323850"/>
          </a:xfrm>
          <a:prstGeom prst="rect">
            <a:avLst/>
          </a:prstGeom>
          <a:solidFill>
            <a:srgbClr val="D5A000"/>
          </a:solidFill>
          <a:ln w="0">
            <a:noFill/>
          </a:ln>
        </p:spPr>
      </p:sp>
      <p:sp>
        <p:nvSpPr>
          <p:cNvPr id="181" name="gateway-label">
            <a:extLst>
              <a:ext uri="{FF2B5EF4-FFF2-40B4-BE49-F238E27FC236}">
                <a16:creationId xmlns:a16="http://schemas.microsoft.com/office/drawing/2014/main" id="{E6868370-03E3-4FFE-A399-D979BF434EC5}"/>
              </a:ext>
            </a:extLst>
          </p:cNvPr>
          <p:cNvSpPr>
            <a:spLocks noGrp="1"/>
          </p:cNvSpPr>
          <p:nvPr/>
        </p:nvSpPr>
        <p:spPr>
          <a:xfrm>
            <a:off x="6419850" y="1581150"/>
            <a:ext cx="1981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182" name="gateway-body">
            <a:extLst>
              <a:ext uri="{FF2B5EF4-FFF2-40B4-BE49-F238E27FC236}">
                <a16:creationId xmlns:a16="http://schemas.microsoft.com/office/drawing/2014/main" id="{44B4E3BD-5012-45ED-A51D-5F5039BCF646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8669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098"/>
          </a:bodyPr>
          <a:lstStyle/>
          <a:p>
            <a:pPr algn="ctr">
              <a:buNone/>
              <a:def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Spring Cloud • Port 8080</a:t>
            </a:r>
          </a:p>
        </p:txBody>
      </p:sp>
      <p:sp>
        <p:nvSpPr>
          <p:cNvPr id="183" name="discovery-frame">
            <a:extLst>
              <a:ext uri="{FF2B5EF4-FFF2-40B4-BE49-F238E27FC236}">
                <a16:creationId xmlns:a16="http://schemas.microsoft.com/office/drawing/2014/main" id="{1F64B999-601F-47B3-8D17-ABEBB78C20F8}"/>
              </a:ext>
            </a:extLst>
          </p:cNvPr>
          <p:cNvSpPr>
            <a:spLocks noGrp="1"/>
          </p:cNvSpPr>
          <p:nvPr/>
        </p:nvSpPr>
        <p:spPr>
          <a:xfrm>
            <a:off x="9201150" y="1562100"/>
            <a:ext cx="2266950" cy="723900"/>
          </a:xfrm>
          <a:prstGeom prst="rect">
            <a:avLst/>
          </a:prstGeom>
          <a:solidFill>
            <a:srgbClr val="DCEFF8"/>
          </a:solidFill>
          <a:ln w="19050">
            <a:solidFill>
              <a:srgbClr val="0070C0"/>
            </a:solidFill>
          </a:ln>
        </p:spPr>
      </p:sp>
      <p:sp>
        <p:nvSpPr>
          <p:cNvPr id="184" name="discovery-header">
            <a:extLst>
              <a:ext uri="{FF2B5EF4-FFF2-40B4-BE49-F238E27FC236}">
                <a16:creationId xmlns:a16="http://schemas.microsoft.com/office/drawing/2014/main" id="{2FF5DBC1-3195-4F57-AE99-A2C9DFFC8D86}"/>
              </a:ext>
            </a:extLst>
          </p:cNvPr>
          <p:cNvSpPr>
            <a:spLocks noGrp="1"/>
          </p:cNvSpPr>
          <p:nvPr/>
        </p:nvSpPr>
        <p:spPr>
          <a:xfrm>
            <a:off x="9201150" y="1562100"/>
            <a:ext cx="226695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185" name="discovery-label">
            <a:extLst>
              <a:ext uri="{FF2B5EF4-FFF2-40B4-BE49-F238E27FC236}">
                <a16:creationId xmlns:a16="http://schemas.microsoft.com/office/drawing/2014/main" id="{8ACE5909-9764-4D7F-AF3A-35E8BB25D48D}"/>
              </a:ext>
            </a:extLst>
          </p:cNvPr>
          <p:cNvSpPr>
            <a:spLocks noGrp="1"/>
          </p:cNvSpPr>
          <p:nvPr/>
        </p:nvSpPr>
        <p:spPr>
          <a:xfrm>
            <a:off x="9258300" y="1581150"/>
            <a:ext cx="21526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DISCOVERY</a:t>
            </a:r>
          </a:p>
        </p:txBody>
      </p:sp>
      <p:sp>
        <p:nvSpPr>
          <p:cNvPr id="186" name="discovery-body">
            <a:extLst>
              <a:ext uri="{FF2B5EF4-FFF2-40B4-BE49-F238E27FC236}">
                <a16:creationId xmlns:a16="http://schemas.microsoft.com/office/drawing/2014/main" id="{61F91F27-6536-4534-8329-6D1813AA52A2}"/>
              </a:ext>
            </a:extLst>
          </p:cNvPr>
          <p:cNvSpPr>
            <a:spLocks noGrp="1"/>
          </p:cNvSpPr>
          <p:nvPr/>
        </p:nvSpPr>
        <p:spPr>
          <a:xfrm>
            <a:off x="9315450" y="19526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15"/>
          </a:bodyPr>
          <a:lstStyle/>
          <a:p>
            <a:pPr algn="ctr">
              <a:buNone/>
              <a:def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Netflix Eureka • Port 8761</a:t>
            </a:r>
          </a:p>
        </p:txBody>
      </p:sp>
      <p:sp>
        <p:nvSpPr>
          <p:cNvPr id="187" name="roles-to-portal">
            <a:extLst>
              <a:ext uri="{FF2B5EF4-FFF2-40B4-BE49-F238E27FC236}">
                <a16:creationId xmlns:a16="http://schemas.microsoft.com/office/drawing/2014/main" id="{72DB6620-9344-4D40-9AE1-FD61FFEDDB65}"/>
              </a:ext>
            </a:extLst>
          </p:cNvPr>
          <p:cNvSpPr>
            <a:spLocks noGrp="1"/>
          </p:cNvSpPr>
          <p:nvPr/>
        </p:nvSpPr>
        <p:spPr>
          <a:xfrm>
            <a:off x="2857500" y="1800225"/>
            <a:ext cx="533400" cy="238125"/>
          </a:xfrm>
          <a:prstGeom prst="rightArrow">
            <a:avLst/>
          </a:prstGeom>
          <a:solidFill>
            <a:srgbClr val="F37032"/>
          </a:solidFill>
          <a:ln w="0">
            <a:noFill/>
          </a:ln>
        </p:spPr>
      </p:sp>
      <p:sp>
        <p:nvSpPr>
          <p:cNvPr id="188" name="portal-to-gateway">
            <a:extLst>
              <a:ext uri="{FF2B5EF4-FFF2-40B4-BE49-F238E27FC236}">
                <a16:creationId xmlns:a16="http://schemas.microsoft.com/office/drawing/2014/main" id="{62C7B214-7E33-4D73-A692-ADD1AE169677}"/>
              </a:ext>
            </a:extLst>
          </p:cNvPr>
          <p:cNvSpPr>
            <a:spLocks noGrp="1"/>
          </p:cNvSpPr>
          <p:nvPr/>
        </p:nvSpPr>
        <p:spPr>
          <a:xfrm>
            <a:off x="5695950" y="1800225"/>
            <a:ext cx="533400" cy="238125"/>
          </a:xfrm>
          <a:prstGeom prst="rightArrow">
            <a:avLst/>
          </a:prstGeom>
          <a:solidFill>
            <a:srgbClr val="F37032"/>
          </a:solidFill>
          <a:ln w="0">
            <a:noFill/>
          </a:ln>
        </p:spPr>
      </p:sp>
      <p:sp>
        <p:nvSpPr>
          <p:cNvPr id="189" name="gateway-to-eureka">
            <a:extLst>
              <a:ext uri="{FF2B5EF4-FFF2-40B4-BE49-F238E27FC236}">
                <a16:creationId xmlns:a16="http://schemas.microsoft.com/office/drawing/2014/main" id="{FDCC0C63-724B-4CD8-915E-E6FB9BBADAEB}"/>
              </a:ext>
            </a:extLst>
          </p:cNvPr>
          <p:cNvSpPr>
            <a:spLocks noGrp="1"/>
          </p:cNvSpPr>
          <p:nvPr/>
        </p:nvSpPr>
        <p:spPr>
          <a:xfrm>
            <a:off x="8534400" y="1800225"/>
            <a:ext cx="533400" cy="238125"/>
          </a:xfrm>
          <a:prstGeom prst="rightArrow">
            <a:avLst/>
          </a:prstGeom>
          <a:solidFill>
            <a:srgbClr val="F37032"/>
          </a:solidFill>
          <a:ln w="0">
            <a:noFill/>
          </a:ln>
        </p:spPr>
      </p:sp>
      <p:sp>
        <p:nvSpPr>
          <p:cNvPr id="190" name="service-layer-label">
            <a:extLst>
              <a:ext uri="{FF2B5EF4-FFF2-40B4-BE49-F238E27FC236}">
                <a16:creationId xmlns:a16="http://schemas.microsoft.com/office/drawing/2014/main" id="{C9D66977-99AB-4CDA-852C-50F06CA1EE8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buNone/>
              <a:defRPr sz="1275" b="1">
                <a:solidFill>
                  <a:srgbClr val="164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4A74"/>
                </a:solidFill>
                <a:latin typeface="Arial"/>
                <a:ea typeface="Arial"/>
                <a:cs typeface="Arial"/>
              </a:rPr>
              <a:t>SPRING BOOT BUSINESS SERVICES  •  PORTS 8081–8089</a:t>
            </a:r>
          </a:p>
        </p:txBody>
      </p:sp>
      <p:sp>
        <p:nvSpPr>
          <p:cNvPr id="191" name="identity-services-frame">
            <a:extLst>
              <a:ext uri="{FF2B5EF4-FFF2-40B4-BE49-F238E27FC236}">
                <a16:creationId xmlns:a16="http://schemas.microsoft.com/office/drawing/2014/main" id="{B74207FB-59B0-4922-B851-F37F984580A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333750" cy="1257300"/>
          </a:xfrm>
          <a:prstGeom prst="rect">
            <a:avLst/>
          </a:prstGeom>
          <a:solidFill>
            <a:srgbClr val="EFF7FB"/>
          </a:solidFill>
          <a:ln w="19050">
            <a:solidFill>
              <a:srgbClr val="0070C0"/>
            </a:solidFill>
          </a:ln>
        </p:spPr>
      </p:sp>
      <p:sp>
        <p:nvSpPr>
          <p:cNvPr id="192" name="identity-services-header">
            <a:extLst>
              <a:ext uri="{FF2B5EF4-FFF2-40B4-BE49-F238E27FC236}">
                <a16:creationId xmlns:a16="http://schemas.microsoft.com/office/drawing/2014/main" id="{5B68B899-6B76-4BB9-A8A0-5376B5ECEC22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33375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193" name="identity-services-label">
            <a:extLst>
              <a:ext uri="{FF2B5EF4-FFF2-40B4-BE49-F238E27FC236}">
                <a16:creationId xmlns:a16="http://schemas.microsoft.com/office/drawing/2014/main" id="{CF19BAC2-E6D7-4B4B-9EA8-846BBA3DB922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3219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&amp; USER DATA</a:t>
            </a:r>
          </a:p>
        </p:txBody>
      </p:sp>
      <p:sp>
        <p:nvSpPr>
          <p:cNvPr id="194" name="identity-services-body">
            <a:extLst>
              <a:ext uri="{FF2B5EF4-FFF2-40B4-BE49-F238E27FC236}">
                <a16:creationId xmlns:a16="http://schemas.microsoft.com/office/drawing/2014/main" id="{F15DEC0D-842A-462C-8FB1-356CE7780F3A}"/>
              </a:ext>
            </a:extLst>
          </p:cNvPr>
          <p:cNvSpPr>
            <a:spLocks noGrp="1"/>
          </p:cNvSpPr>
          <p:nvPr/>
        </p:nvSpPr>
        <p:spPr>
          <a:xfrm>
            <a:off x="800100" y="3248025"/>
            <a:ext cx="31051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4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Authentication :8081</a:t>
            </a:r>
          </a:p>
          <a:p>
            <a:pPr algn="ctr">
              <a:buNone/>
              <a:defRPr sz="14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User / patient profile :8082</a:t>
            </a:r>
          </a:p>
        </p:txBody>
      </p:sp>
      <p:sp>
        <p:nvSpPr>
          <p:cNvPr id="195" name="clinical-services-frame">
            <a:extLst>
              <a:ext uri="{FF2B5EF4-FFF2-40B4-BE49-F238E27FC236}">
                <a16:creationId xmlns:a16="http://schemas.microsoft.com/office/drawing/2014/main" id="{7BE4C175-6CE0-489B-8D93-92EA111F0C51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1257300"/>
          </a:xfrm>
          <a:prstGeom prst="rect">
            <a:avLst/>
          </a:prstGeom>
          <a:solidFill>
            <a:srgbClr val="EFF7FB"/>
          </a:solidFill>
          <a:ln w="19050">
            <a:solidFill>
              <a:srgbClr val="0070C0"/>
            </a:solidFill>
          </a:ln>
        </p:spPr>
      </p:sp>
      <p:sp>
        <p:nvSpPr>
          <p:cNvPr id="196" name="clinical-services-header">
            <a:extLst>
              <a:ext uri="{FF2B5EF4-FFF2-40B4-BE49-F238E27FC236}">
                <a16:creationId xmlns:a16="http://schemas.microsoft.com/office/drawing/2014/main" id="{B9BE0F54-4C25-4363-85CD-2AD7FD6C2E38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197" name="clinical-services-label">
            <a:extLst>
              <a:ext uri="{FF2B5EF4-FFF2-40B4-BE49-F238E27FC236}">
                <a16:creationId xmlns:a16="http://schemas.microsoft.com/office/drawing/2014/main" id="{405C261E-418A-464A-834F-8F39DD3AB899}"/>
              </a:ext>
            </a:extLst>
          </p:cNvPr>
          <p:cNvSpPr>
            <a:spLocks noGrp="1"/>
          </p:cNvSpPr>
          <p:nvPr/>
        </p:nvSpPr>
        <p:spPr>
          <a:xfrm>
            <a:off x="4486275" y="2876550"/>
            <a:ext cx="3219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CLINICAL CARE</a:t>
            </a:r>
          </a:p>
        </p:txBody>
      </p:sp>
      <p:sp>
        <p:nvSpPr>
          <p:cNvPr id="198" name="clinical-services-body">
            <a:extLst>
              <a:ext uri="{FF2B5EF4-FFF2-40B4-BE49-F238E27FC236}">
                <a16:creationId xmlns:a16="http://schemas.microsoft.com/office/drawing/2014/main" id="{5A13D803-ED9B-486E-BB5D-FEE12A298EFE}"/>
              </a:ext>
            </a:extLst>
          </p:cNvPr>
          <p:cNvSpPr>
            <a:spLocks noGrp="1"/>
          </p:cNvSpPr>
          <p:nvPr/>
        </p:nvSpPr>
        <p:spPr>
          <a:xfrm>
            <a:off x="4543425" y="3248025"/>
            <a:ext cx="31051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Doctor :8083  •  Appointment :8084</a:t>
            </a:r>
          </a:p>
          <a:p>
            <a:pPr algn="ctr">
              <a:buNone/>
              <a:def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Consultation :8085  •  Prescription :8086</a:t>
            </a:r>
          </a:p>
        </p:txBody>
      </p:sp>
      <p:sp>
        <p:nvSpPr>
          <p:cNvPr id="199" name="access-services-frame">
            <a:extLst>
              <a:ext uri="{FF2B5EF4-FFF2-40B4-BE49-F238E27FC236}">
                <a16:creationId xmlns:a16="http://schemas.microsoft.com/office/drawing/2014/main" id="{3D342265-EF7C-4BD2-9B26-4C753F91E22F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3295650" cy="1257300"/>
          </a:xfrm>
          <a:prstGeom prst="rect">
            <a:avLst/>
          </a:prstGeom>
          <a:solidFill>
            <a:srgbClr val="EFF7FB"/>
          </a:solidFill>
          <a:ln w="19050">
            <a:solidFill>
              <a:srgbClr val="0070C0"/>
            </a:solidFill>
          </a:ln>
        </p:spPr>
      </p:sp>
      <p:sp>
        <p:nvSpPr>
          <p:cNvPr id="200" name="access-services-header">
            <a:extLst>
              <a:ext uri="{FF2B5EF4-FFF2-40B4-BE49-F238E27FC236}">
                <a16:creationId xmlns:a16="http://schemas.microsoft.com/office/drawing/2014/main" id="{DB4283E1-5291-41A7-9F0E-A2F2A38F266A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329565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201" name="access-services-label">
            <a:extLst>
              <a:ext uri="{FF2B5EF4-FFF2-40B4-BE49-F238E27FC236}">
                <a16:creationId xmlns:a16="http://schemas.microsoft.com/office/drawing/2014/main" id="{36B8874D-ADA7-48E2-B2A4-C2FE56DCED51}"/>
              </a:ext>
            </a:extLst>
          </p:cNvPr>
          <p:cNvSpPr>
            <a:spLocks noGrp="1"/>
          </p:cNvSpPr>
          <p:nvPr/>
        </p:nvSpPr>
        <p:spPr>
          <a:xfrm>
            <a:off x="8229600" y="287655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TREATMENT &amp; RESPONSE</a:t>
            </a:r>
          </a:p>
        </p:txBody>
      </p:sp>
      <p:sp>
        <p:nvSpPr>
          <p:cNvPr id="202" name="access-services-body">
            <a:extLst>
              <a:ext uri="{FF2B5EF4-FFF2-40B4-BE49-F238E27FC236}">
                <a16:creationId xmlns:a16="http://schemas.microsoft.com/office/drawing/2014/main" id="{5F65FE54-BD33-4E2A-9629-F566AF26605B}"/>
              </a:ext>
            </a:extLst>
          </p:cNvPr>
          <p:cNvSpPr>
            <a:spLocks noGrp="1"/>
          </p:cNvSpPr>
          <p:nvPr/>
        </p:nvSpPr>
        <p:spPr>
          <a:xfrm>
            <a:off x="8286750" y="3248025"/>
            <a:ext cx="306705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Medicine :8087  •  Pharmacy :8088</a:t>
            </a:r>
          </a:p>
          <a:p>
            <a:pPr algn="ctr">
              <a:buNone/>
              <a:def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Ambulance :8089</a:t>
            </a:r>
          </a:p>
        </p:txBody>
      </p:sp>
      <p:sp>
        <p:nvSpPr>
          <p:cNvPr id="203" name="service-data-225">
            <a:extLst>
              <a:ext uri="{FF2B5EF4-FFF2-40B4-BE49-F238E27FC236}">
                <a16:creationId xmlns:a16="http://schemas.microsoft.com/office/drawing/2014/main" id="{8C35778D-F3F1-473D-A247-EDE56B174F89}"/>
              </a:ext>
            </a:extLst>
          </p:cNvPr>
          <p:cNvSpPr>
            <a:spLocks noGrp="1"/>
          </p:cNvSpPr>
          <p:nvPr/>
        </p:nvSpPr>
        <p:spPr>
          <a:xfrm>
            <a:off x="2038350" y="4219575"/>
            <a:ext cx="209550" cy="285750"/>
          </a:xfrm>
          <a:prstGeom prst="downArrow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204" name="service-data-640">
            <a:extLst>
              <a:ext uri="{FF2B5EF4-FFF2-40B4-BE49-F238E27FC236}">
                <a16:creationId xmlns:a16="http://schemas.microsoft.com/office/drawing/2014/main" id="{4C39AB9C-48AA-48B5-A2CE-27260BC82DB1}"/>
              </a:ext>
            </a:extLst>
          </p:cNvPr>
          <p:cNvSpPr>
            <a:spLocks noGrp="1"/>
          </p:cNvSpPr>
          <p:nvPr/>
        </p:nvSpPr>
        <p:spPr>
          <a:xfrm>
            <a:off x="5991225" y="4219575"/>
            <a:ext cx="209550" cy="285750"/>
          </a:xfrm>
          <a:prstGeom prst="downArrow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205" name="service-data-1030">
            <a:extLst>
              <a:ext uri="{FF2B5EF4-FFF2-40B4-BE49-F238E27FC236}">
                <a16:creationId xmlns:a16="http://schemas.microsoft.com/office/drawing/2014/main" id="{D0FC5E85-7E91-44DF-BEEE-28C0AACD0913}"/>
              </a:ext>
            </a:extLst>
          </p:cNvPr>
          <p:cNvSpPr>
            <a:spLocks noGrp="1"/>
          </p:cNvSpPr>
          <p:nvPr/>
        </p:nvSpPr>
        <p:spPr>
          <a:xfrm>
            <a:off x="9705975" y="4219575"/>
            <a:ext cx="209550" cy="285750"/>
          </a:xfrm>
          <a:prstGeom prst="downArrow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206" name="data-boundary">
            <a:extLst>
              <a:ext uri="{FF2B5EF4-FFF2-40B4-BE49-F238E27FC236}">
                <a16:creationId xmlns:a16="http://schemas.microsoft.com/office/drawing/2014/main" id="{033A5B93-0EE7-47EA-9C07-FCDB59612E80}"/>
              </a:ext>
            </a:extLst>
          </p:cNvPr>
          <p:cNvSpPr>
            <a:spLocks noGrp="1"/>
          </p:cNvSpPr>
          <p:nvPr/>
        </p:nvSpPr>
        <p:spPr>
          <a:xfrm>
            <a:off x="685800" y="4562475"/>
            <a:ext cx="10782300" cy="457200"/>
          </a:xfrm>
          <a:prstGeom prst="rect">
            <a:avLst/>
          </a:prstGeom>
          <a:solidFill>
            <a:srgbClr val="E7F3F9"/>
          </a:solidFill>
          <a:ln w="19050">
            <a:solidFill>
              <a:srgbClr val="0070C0"/>
            </a:solidFill>
          </a:ln>
        </p:spPr>
      </p:sp>
      <p:sp>
        <p:nvSpPr>
          <p:cNvPr id="207" name="data-boundary-label">
            <a:extLst>
              <a:ext uri="{FF2B5EF4-FFF2-40B4-BE49-F238E27FC236}">
                <a16:creationId xmlns:a16="http://schemas.microsoft.com/office/drawing/2014/main" id="{18D427BD-901C-4A3C-AE3F-55B84407FCED}"/>
              </a:ext>
            </a:extLst>
          </p:cNvPr>
          <p:cNvSpPr>
            <a:spLocks noGrp="1"/>
          </p:cNvSpPr>
          <p:nvPr/>
        </p:nvSpPr>
        <p:spPr>
          <a:xfrm>
            <a:off x="819150" y="4629150"/>
            <a:ext cx="10515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ctr">
              <a:buNone/>
              <a:defRPr sz="1500" b="1">
                <a:solidFill>
                  <a:srgbClr val="164A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64A74"/>
                </a:solidFill>
                <a:latin typeface="Times New Roman"/>
                <a:ea typeface="Times New Roman"/>
                <a:cs typeface="Times New Roman"/>
              </a:rPr>
              <a:t>DATA LAYER  •  MySQL 8 — each business service owns a separate schema  •  H2 for automated tests</a:t>
            </a:r>
          </a:p>
        </p:txBody>
      </p:sp>
      <p:sp>
        <p:nvSpPr>
          <p:cNvPr id="208" name="places-provider-frame">
            <a:extLst>
              <a:ext uri="{FF2B5EF4-FFF2-40B4-BE49-F238E27FC236}">
                <a16:creationId xmlns:a16="http://schemas.microsoft.com/office/drawing/2014/main" id="{5A84065C-48ED-41BD-9BA4-5D5C8BD0062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953000" cy="742950"/>
          </a:xfrm>
          <a:prstGeom prst="rect">
            <a:avLst/>
          </a:prstGeom>
          <a:solidFill>
            <a:srgbClr val="FFF8DD"/>
          </a:solidFill>
          <a:ln w="19050">
            <a:solidFill>
              <a:srgbClr val="D5A000"/>
            </a:solidFill>
          </a:ln>
        </p:spPr>
      </p:sp>
      <p:sp>
        <p:nvSpPr>
          <p:cNvPr id="209" name="places-provider-header">
            <a:extLst>
              <a:ext uri="{FF2B5EF4-FFF2-40B4-BE49-F238E27FC236}">
                <a16:creationId xmlns:a16="http://schemas.microsoft.com/office/drawing/2014/main" id="{BEE37644-0A21-476B-AF4A-451204DD51A3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953000" cy="323850"/>
          </a:xfrm>
          <a:prstGeom prst="rect">
            <a:avLst/>
          </a:prstGeom>
          <a:solidFill>
            <a:srgbClr val="D5A000"/>
          </a:solidFill>
          <a:ln w="0">
            <a:noFill/>
          </a:ln>
        </p:spPr>
      </p:sp>
      <p:sp>
        <p:nvSpPr>
          <p:cNvPr id="210" name="places-provider-label">
            <a:extLst>
              <a:ext uri="{FF2B5EF4-FFF2-40B4-BE49-F238E27FC236}">
                <a16:creationId xmlns:a16="http://schemas.microsoft.com/office/drawing/2014/main" id="{DBB9FE53-4EF2-40B0-8393-4D21EE621412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48387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NEARBY PHARMACY PROVIDER</a:t>
            </a:r>
          </a:p>
        </p:txBody>
      </p:sp>
      <p:sp>
        <p:nvSpPr>
          <p:cNvPr id="211" name="places-provider-body">
            <a:extLst>
              <a:ext uri="{FF2B5EF4-FFF2-40B4-BE49-F238E27FC236}">
                <a16:creationId xmlns:a16="http://schemas.microsoft.com/office/drawing/2014/main" id="{E3EFA16E-3F8E-491C-BF37-445DE3235BE9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OpenStreetMap by default • optional Google Places</a:t>
            </a:r>
          </a:p>
        </p:txBody>
      </p:sp>
      <p:sp>
        <p:nvSpPr>
          <p:cNvPr id="212" name="event-layer-frame">
            <a:extLst>
              <a:ext uri="{FF2B5EF4-FFF2-40B4-BE49-F238E27FC236}">
                <a16:creationId xmlns:a16="http://schemas.microsoft.com/office/drawing/2014/main" id="{0626FADD-A712-4B0B-92A7-64A36A45286B}"/>
              </a:ext>
            </a:extLst>
          </p:cNvPr>
          <p:cNvSpPr>
            <a:spLocks noGrp="1"/>
          </p:cNvSpPr>
          <p:nvPr/>
        </p:nvSpPr>
        <p:spPr>
          <a:xfrm>
            <a:off x="6515100" y="5219700"/>
            <a:ext cx="4953000" cy="742950"/>
          </a:xfrm>
          <a:prstGeom prst="rect">
            <a:avLst/>
          </a:prstGeom>
          <a:solidFill>
            <a:srgbClr val="EFF7FB"/>
          </a:solidFill>
          <a:ln w="19050">
            <a:solidFill>
              <a:srgbClr val="0070C0"/>
            </a:solidFill>
          </a:ln>
        </p:spPr>
      </p:sp>
      <p:sp>
        <p:nvSpPr>
          <p:cNvPr id="213" name="event-layer-header">
            <a:extLst>
              <a:ext uri="{FF2B5EF4-FFF2-40B4-BE49-F238E27FC236}">
                <a16:creationId xmlns:a16="http://schemas.microsoft.com/office/drawing/2014/main" id="{7723234C-2026-4742-8589-6F1F70F757D1}"/>
              </a:ext>
            </a:extLst>
          </p:cNvPr>
          <p:cNvSpPr>
            <a:spLocks noGrp="1"/>
          </p:cNvSpPr>
          <p:nvPr/>
        </p:nvSpPr>
        <p:spPr>
          <a:xfrm>
            <a:off x="6515100" y="5219700"/>
            <a:ext cx="4953000" cy="32385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</p:sp>
      <p:sp>
        <p:nvSpPr>
          <p:cNvPr id="214" name="event-layer-label">
            <a:extLst>
              <a:ext uri="{FF2B5EF4-FFF2-40B4-BE49-F238E27FC236}">
                <a16:creationId xmlns:a16="http://schemas.microsoft.com/office/drawing/2014/main" id="{0D63DC8C-0EC6-4080-A3C6-34D48264E834}"/>
              </a:ext>
            </a:extLst>
          </p:cNvPr>
          <p:cNvSpPr>
            <a:spLocks noGrp="1"/>
          </p:cNvSpPr>
          <p:nvPr/>
        </p:nvSpPr>
        <p:spPr>
          <a:xfrm>
            <a:off x="6572250" y="5238750"/>
            <a:ext cx="48387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 EVENT LAYER — PLANNED</a:t>
            </a:r>
          </a:p>
        </p:txBody>
      </p:sp>
      <p:sp>
        <p:nvSpPr>
          <p:cNvPr id="215" name="event-layer-body">
            <a:extLst>
              <a:ext uri="{FF2B5EF4-FFF2-40B4-BE49-F238E27FC236}">
                <a16:creationId xmlns:a16="http://schemas.microsoft.com/office/drawing/2014/main" id="{882BCEE5-7737-4E8D-8432-836615324490}"/>
              </a:ext>
            </a:extLst>
          </p:cNvPr>
          <p:cNvSpPr>
            <a:spLocks noGrp="1"/>
          </p:cNvSpPr>
          <p:nvPr/>
        </p:nvSpPr>
        <p:spPr>
          <a:xfrm>
            <a:off x="6629400" y="561022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Kafka topics defined; production producers/consumers pending</a:t>
            </a:r>
          </a:p>
        </p:txBody>
      </p:sp>
      <p:sp>
        <p:nvSpPr>
          <p:cNvPr id="216" name="integration-note">
            <a:extLst>
              <a:ext uri="{FF2B5EF4-FFF2-40B4-BE49-F238E27FC236}">
                <a16:creationId xmlns:a16="http://schemas.microsoft.com/office/drawing/2014/main" id="{2C018A56-8AF5-4108-938C-5A3F3EE6F121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7823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000"/>
          </a:bodyPr>
          <a:lstStyle/>
          <a:p>
            <a:pPr algn="ctr">
              <a:buNone/>
              <a:defRPr sz="11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244126"/>
                </a:solidFill>
                <a:latin typeface="Times New Roman"/>
                <a:ea typeface="Times New Roman"/>
                <a:cs typeface="Times New Roman"/>
              </a:rPr>
              <a:t>External API keys remain in backend configuration.  •  REST / OpenFeign connects synchronous service workflows.</a:t>
            </a:r>
          </a:p>
        </p:txBody>
      </p:sp>
    </p:spTree>
    <p:extLst>
      <p:ext uri="{BB962C8B-B14F-4D97-AF65-F5344CB8AC3E}">
        <p14:creationId xmlns:p14="http://schemas.microsoft.com/office/powerpoint/2010/main" val="145303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>
            <a:extLst>
              <a:ext uri="{FF2B5EF4-FFF2-40B4-BE49-F238E27FC236}">
                <a16:creationId xmlns:a16="http://schemas.microsoft.com/office/drawing/2014/main" id="{4D246DC3-343A-4EEA-9308-CF112B483E85}"/>
              </a:ext>
            </a:extLst>
          </p:cNvPr>
          <p:cNvSpPr>
            <a:spLocks noGrp="1"/>
          </p:cNvSpPr>
          <p:nvPr/>
        </p:nvSpPr>
        <p:spPr>
          <a:xfrm>
            <a:off x="4560480" y="136440"/>
            <a:ext cx="307044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2800" b="1" u="none">
                <a:solidFill>
                  <a:srgbClr val="0064C8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1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>
            <a:extLst>
              <a:ext uri="{FF2B5EF4-FFF2-40B4-BE49-F238E27FC236}">
                <a16:creationId xmlns:a16="http://schemas.microsoft.com/office/drawing/2014/main" id="{09F432A1-C72D-4A04-A94A-430CAEE901E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FB799BF-53A9-483B-8A0A-3413C8EE428F}" type="slidenum">
              <a:rPr/>
              <a:t>6</a:t>
            </a:fld>
            <a:endParaRPr/>
          </a:p>
        </p:txBody>
      </p:sp>
      <p:graphicFrame>
        <p:nvGraphicFramePr>
          <p:cNvPr id="183" name="Table 182"/>
          <p:cNvGraphicFramePr/>
          <p:nvPr/>
        </p:nvGraphicFramePr>
        <p:xfrm>
          <a:off x="685800" y="914400"/>
          <a:ext cx="10744200" cy="5238750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567A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Layer</a:t>
                      </a:r>
                    </a:p>
                  </a:txBody>
                  <a:tcPr anchor="ctr">
                    <a:solidFill>
                      <a:srgbClr val="F3F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567A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Technology / boundary</a:t>
                      </a:r>
                    </a:p>
                  </a:txBody>
                  <a:tcPr anchor="ctr">
                    <a:solidFill>
                      <a:srgbClr val="F3F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567A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in the system</a:t>
                      </a:r>
                    </a:p>
                  </a:txBody>
                  <a:tcPr anchor="ctr">
                    <a:solidFill>
                      <a:srgbClr val="F3F3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567A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Status in source</a:t>
                      </a:r>
                    </a:p>
                  </a:txBody>
                  <a:tcPr anchor="ctr">
                    <a:solidFill>
                      <a:srgbClr val="F3F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Next.js 16.3 • React 19.2 • TypeScript 5 • Tailwind CSS 4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Role-based web portal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Core portal reported implemented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Backend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Java 21 • Spring Boot 3.4.2 • Spring Cloud 2024.0.0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Domain microservices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Service architecture specified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Routing &amp; discovery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Spring Cloud API Gateway • Netflix Eureka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entry point and service registration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Specified in architecture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MySQL 8 runtime • H2 automated tests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schema per business service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ownership required</a:t>
                      </a:r>
                    </a:p>
                  </a:txBody>
                  <a:tcPr anchor="ctr">
                    <a:solidFill>
                      <a:srgbClr val="D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Integration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REST • OpenFeign • Kafka event model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Synchronous APIs now; async events later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4323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Kafka producers/consumers planned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5" name="Rectangle 174">
            <a:extLst>
              <a:ext uri="{FF2B5EF4-FFF2-40B4-BE49-F238E27FC236}">
                <a16:creationId xmlns:a16="http://schemas.microsoft.com/office/drawing/2014/main" id="{6D1A605A-0FED-4071-A538-5DEC0A4D047C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744200" cy="6667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</p:sp>
    </p:spTree>
    <p:extLst>
      <p:ext uri="{BB962C8B-B14F-4D97-AF65-F5344CB8AC3E}">
        <p14:creationId xmlns:p14="http://schemas.microsoft.com/office/powerpoint/2010/main" val="361897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4">
            <a:extLst>
              <a:ext uri="{FF2B5EF4-FFF2-40B4-BE49-F238E27FC236}">
                <a16:creationId xmlns:a16="http://schemas.microsoft.com/office/drawing/2014/main" id="{7260875C-7306-4EFE-819F-D566F878C59A}"/>
              </a:ext>
            </a:extLst>
          </p:cNvPr>
          <p:cNvSpPr>
            <a:spLocks noGrp="1"/>
          </p:cNvSpPr>
          <p:nvPr/>
        </p:nvSpPr>
        <p:spPr>
          <a:xfrm>
            <a:off x="3048120" y="600120"/>
            <a:ext cx="609552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Core Healthcare Workflows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0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77" name="TextBox 5">
            <a:extLst>
              <a:ext uri="{FF2B5EF4-FFF2-40B4-BE49-F238E27FC236}">
                <a16:creationId xmlns:a16="http://schemas.microsoft.com/office/drawing/2014/main" id="{7A6ABF8E-38EE-4E43-93F2-98B9F088B668}"/>
              </a:ext>
            </a:extLst>
          </p:cNvPr>
          <p:cNvSpPr>
            <a:spLocks noGrp="1"/>
          </p:cNvSpPr>
          <p:nvPr/>
        </p:nvSpPr>
        <p:spPr>
          <a:xfrm>
            <a:off x="914760" y="1371600"/>
            <a:ext cx="10515240" cy="467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Patient care: verified-doctor discovery → appointment and symptoms → consultation notes and diagnosis → finalized prescription.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Medicine adherence: finalized prescriptions generate schedules; patients mark doses TAKEN or SKIPPED, and overdue doses become MISSED.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Pharmacy: location is requested after a user action; nearby results come from the configured provider, and orders validate prescriptions and reserve stock.</a:t>
            </a:r>
          </a:p>
          <a:p>
            <a:pPr marL="254000" indent="-127000">
              <a:spcAft>
                <a:spcPts val="900"/>
              </a:spcAft>
              <a:buChar char="•"/>
              <a:def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Emergency response: the backend selects an available ambulance by distance, protects assignment against duplication, and records operator status updates.</a:t>
            </a:r>
          </a:p>
        </p:txBody>
      </p:sp>
    </p:spTree>
    <p:extLst>
      <p:ext uri="{BB962C8B-B14F-4D97-AF65-F5344CB8AC3E}">
        <p14:creationId xmlns:p14="http://schemas.microsoft.com/office/powerpoint/2010/main" val="1111952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4">
            <a:extLst>
              <a:ext uri="{FF2B5EF4-FFF2-40B4-BE49-F238E27FC236}">
                <a16:creationId xmlns:a16="http://schemas.microsoft.com/office/drawing/2014/main" id="{4D644D55-0EE0-40E4-8BFE-39613BBF2091}"/>
              </a:ext>
            </a:extLst>
          </p:cNvPr>
          <p:cNvSpPr>
            <a:spLocks noGrp="1"/>
          </p:cNvSpPr>
          <p:nvPr/>
        </p:nvSpPr>
        <p:spPr>
          <a:xfrm>
            <a:off x="1908000" y="567360"/>
            <a:ext cx="84056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Technical Soundness, Security &amp; Testing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3" name="Picture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80" name="TextBox 5">
            <a:extLst>
              <a:ext uri="{FF2B5EF4-FFF2-40B4-BE49-F238E27FC236}">
                <a16:creationId xmlns:a16="http://schemas.microsoft.com/office/drawing/2014/main" id="{20D85D47-7D77-4423-B112-D2DFA9400257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10972440" cy="421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Spring Security and JWT support authentication and role-based access; patients are restricted to their records and doctors to assigned appointments and consultations.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Passwords must never be returned by APIs; finalized diagnosis and prescription records cannot be changed by patients.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Provider credentials stay in backend environment variables, and browser location is requested only after an explicit user action.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Service-owned MySQL schemas, REST/OpenFeign APIs, and separate services support clear data and code boundaries.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D2E1D"/>
                </a:solidFill>
                <a:latin typeface="Times New Roman"/>
                <a:ea typeface="Times New Roman"/>
                <a:cs typeface="Times New Roman"/>
              </a:rPr>
              <a:t>JUnit, Spring integration tests, MockMvc, and Playwright are named in the stack; demonstrate authorization, concurrency, and failure-path evidence during review.</a:t>
            </a:r>
          </a:p>
        </p:txBody>
      </p:sp>
    </p:spTree>
    <p:extLst>
      <p:ext uri="{BB962C8B-B14F-4D97-AF65-F5344CB8AC3E}">
        <p14:creationId xmlns:p14="http://schemas.microsoft.com/office/powerpoint/2010/main" val="169106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4">
            <a:extLst>
              <a:ext uri="{FF2B5EF4-FFF2-40B4-BE49-F238E27FC236}">
                <a16:creationId xmlns:a16="http://schemas.microsoft.com/office/drawing/2014/main" id="{EA7112CE-FA25-44A1-BDFB-FF5FD8032733}"/>
              </a:ext>
            </a:extLst>
          </p:cNvPr>
          <p:cNvSpPr>
            <a:spLocks noGrp="1"/>
          </p:cNvSpPr>
          <p:nvPr/>
        </p:nvSpPr>
        <p:spPr>
          <a:xfrm>
            <a:off x="2367720" y="228600"/>
            <a:ext cx="7233480" cy="70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4000" b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Project Status &amp; Roadmap</a:t>
            </a:r>
            <a:endParaRPr sz="4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Box 1">
            <a:extLst>
              <a:ext uri="{FF2B5EF4-FFF2-40B4-BE49-F238E27FC236}">
                <a16:creationId xmlns:a16="http://schemas.microsoft.com/office/drawing/2014/main" id="{EC6CFC06-5892-4317-B28A-10C933A1B3F7}"/>
              </a:ext>
            </a:extLst>
          </p:cNvPr>
          <p:cNvSpPr>
            <a:spLocks noGrp="1"/>
          </p:cNvSpPr>
          <p:nvPr/>
        </p:nvSpPr>
        <p:spPr>
          <a:xfrm>
            <a:off x="1381320" y="1743840"/>
            <a:ext cx="10115640" cy="49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8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49560" y="0"/>
            <a:ext cx="1942200" cy="622080"/>
          </a:xfrm>
          <a:prstGeom prst="rect">
            <a:avLst/>
          </a:prstGeom>
          <a:ln w="0">
            <a:noFill/>
          </a:ln>
        </p:spPr>
      </p:pic>
      <p:sp>
        <p:nvSpPr>
          <p:cNvPr id="184" name="Rectangle 183">
            <a:extLst>
              <a:ext uri="{FF2B5EF4-FFF2-40B4-BE49-F238E27FC236}">
                <a16:creationId xmlns:a16="http://schemas.microsoft.com/office/drawing/2014/main" id="{DCE0FF26-EE68-4123-9F3C-D43C704888D1}"/>
              </a:ext>
            </a:extLst>
          </p:cNvPr>
          <p:cNvSpPr>
            <a:spLocks noGrp="1"/>
          </p:cNvSpPr>
          <p:nvPr/>
        </p:nvSpPr>
        <p:spPr>
          <a:xfrm>
            <a:off x="762000" y="1314450"/>
            <a:ext cx="10668000" cy="47625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IMPLEMENTED (as reported in the requirements): registration and JWT login; doctor discovery and appointments; persisted consultations and prescriptions; medicine schedules and adherence; pharmacy orders and nearby discovery; emergency requests, assignment, and status lifecycle.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DESIGNED OR PLANNED: production Kafka producers and consumers; FCM notifications; WebRTC consultations; OCR; automated emergency detection; live ambulance location and route progress.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 PRIORITIES: demonstrate access-control checks and end-to-end tests; verify simultaneous booking, stock reservation, and ambulance assignment; plan logging, metrics, tracing, backups, and deployment automation.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sz="1200" b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 statements above come from the project requirements document and have not been independently audited against source code.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018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DocSecurity>0</DocSecurity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Devaansh Sai</cp:lastModifiedBy>
  <cp:revision>1</cp:revision>
  <dcterms:created xsi:type="dcterms:W3CDTF">2026-09-26T07:46:48Z</dcterms:created>
  <dcterms:modified xsi:type="dcterms:W3CDTF">2026-09-26T07:52:15Z</dcterms:modified>
</cp:coreProperties>
</file>